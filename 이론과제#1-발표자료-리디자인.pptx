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37930-70DE-C0DC-2497-E3532A9E0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EF80B8-233F-1200-FBEB-C4FD07638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DE376-FEF6-B02E-1993-DDA7C83C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07137-A548-84D4-4583-CCB1DB8A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E2E653-17B3-F7AE-4D54-0546A346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80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97079-246F-29D7-2B8E-08436F74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0C7AE9-CF41-B1D8-B073-8A85C40E5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BE9FC-B96C-6DFF-ED97-21A194EC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B683B-F21B-595D-25B4-D3726ED9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59639-486D-8594-632C-AB4BBF4F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18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1EE0E-CA7E-1F31-6BBB-B5F6092A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3DE09C-35F1-30AC-CE0C-39D2665A3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351F07-FBAB-5EB7-F00A-8D13BA7B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D90BE-98EF-372F-93E4-55334231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2662-DA80-1934-AA04-B5D5DDA3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7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094DC-2114-D2D2-FD80-A0DEB59F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A49CEB-57F5-EC98-45A4-189E29D7F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DE5E35-2A62-C494-EAB6-C0D1CEE7D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662AC5-E724-39C7-332D-A62E5C9D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0DAE0-0A00-D2C1-A69D-F63120B7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743017-1F87-54A3-254A-8D8C770B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42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6926A-765E-11D7-3520-B9790280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CDA7F1-5C4A-AD77-91B0-854F2C844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63E7C8-37E8-1C24-C606-8CBD1CCB5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575459-EAB8-982B-CBD6-1A4C18017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A9E175-B381-DA57-3600-7344A1B4A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05C05F-EEAC-128E-A29D-577F3C0C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7668D1-A66D-0A8B-CA8B-BA1D9C4C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1B2753-3EAC-9163-616B-362913B5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6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89085-7809-76B6-FCA3-464A14D3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8DDB45-F116-6E6C-E6E2-73599FCC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9B2BCE-E2E0-0C81-D15D-64E819A8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1AD15A-372B-2C69-98ED-46604942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55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9F74FE-6F25-E3F8-CEB3-277AA655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E379DF-BD7D-1C6E-3D32-100DB7AF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2D5138-8104-7A92-83FF-81ACC598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98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1E765-AEE1-2F02-BC72-D70699D5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5C159-999D-4B13-4B00-55F719B0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8BF239-4588-C186-4666-77FE6E8EF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550519-00B7-F9C7-F700-E756440B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2BB83-DC84-8450-877C-E6FCE987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391FDF-6E17-207A-431A-BFFD33DB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29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89517-513A-7AC2-2615-41196241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F3DC06-4299-6D06-DB21-3609FAC3F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61317C-49D1-7D32-05A9-380078DDC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CC7376-B12C-BF11-1468-28DE7242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671F42-EA44-26E8-A69B-5AAF4E4C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0CB45E-3330-FDA9-80EC-AC7BCE07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75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E7CC2-3164-6B6A-AA5F-600D9D77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C33A73-4749-4F11-C950-299B7D650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2538EF-B5F2-F13B-C6EE-5A56199E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708ACB-6499-D0FB-7DF5-4EE6DE82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B5FE6-FB4B-CA59-637D-DD78DCDA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793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6EAA93-6C7A-5D24-6A53-E373DFDCF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929029-3DFC-2F0F-41F9-6F2F06B13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81B96-843D-FC37-42A2-D55C79B1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A793E7-94DF-F09E-7E59-BAB32617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46B316-D06B-2F78-C290-92137B32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6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B0D112-B415-A1EB-85DE-E23E6926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B08581-D26E-7285-3E3E-B19D8813C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F30458-35AA-7E96-ECDB-476E0A619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70A3B-C7CF-4C4B-8529-7663FB997469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EBC9D-A2B5-F1AF-E544-5D9F738D7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68C53-28AE-E87A-C542-CE4F560E8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37A30-78B8-467C-9129-B504F1D1A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76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13327287-2E3B-A635-D521-CDB0F7F912BC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94B7046-6129-045B-8DF3-7993EF7BF0AD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05C229D-5582-4E40-0E9F-B8CD0C67DC02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56A37-1A01-8645-9E42-35FC55D27F01}"/>
              </a:ext>
            </a:extLst>
          </p:cNvPr>
          <p:cNvSpPr txBox="1"/>
          <p:nvPr/>
        </p:nvSpPr>
        <p:spPr>
          <a:xfrm>
            <a:off x="533400" y="355600"/>
            <a:ext cx="2413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b="1">
                <a:solidFill>
                  <a:srgbClr val="475569"/>
                </a:solidFill>
                <a:latin typeface="Pretendard" panose="02000503000000020004" pitchFamily="50" charset="-127"/>
              </a:rPr>
              <a:t>소프트웨어 시스템 개요 발표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6B26424-C7B2-DDEE-698D-9FAE58A5E2C1}"/>
              </a:ext>
            </a:extLst>
          </p:cNvPr>
          <p:cNvCxnSpPr/>
          <p:nvPr/>
        </p:nvCxnSpPr>
        <p:spPr>
          <a:xfrm>
            <a:off x="533400" y="711200"/>
            <a:ext cx="13208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CBD41D-9F2F-5873-980E-BC168B3C9E14}"/>
              </a:ext>
            </a:extLst>
          </p:cNvPr>
          <p:cNvSpPr txBox="1"/>
          <p:nvPr/>
        </p:nvSpPr>
        <p:spPr>
          <a:xfrm>
            <a:off x="533400" y="965200"/>
            <a:ext cx="6096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100" b="1">
                <a:solidFill>
                  <a:srgbClr val="0F172A"/>
                </a:solidFill>
                <a:latin typeface="Pretendard" panose="02000503000000020004" pitchFamily="50" charset="-127"/>
              </a:rPr>
              <a:t>AI </a:t>
            </a:r>
            <a:r>
              <a:rPr lang="ko-KR" altLang="en-US" sz="3100" b="1">
                <a:solidFill>
                  <a:srgbClr val="0F172A"/>
                </a:solidFill>
                <a:latin typeface="Pretendard" panose="02000503000000020004" pitchFamily="50" charset="-127"/>
              </a:rPr>
              <a:t>환각 방지
모델 오케스트레이션 시스템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4FE80-B471-8462-E779-85BCAAC75A62}"/>
              </a:ext>
            </a:extLst>
          </p:cNvPr>
          <p:cNvSpPr txBox="1"/>
          <p:nvPr/>
        </p:nvSpPr>
        <p:spPr>
          <a:xfrm>
            <a:off x="533400" y="2336800"/>
            <a:ext cx="5969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20">
                <a:solidFill>
                  <a:srgbClr val="475569"/>
                </a:solidFill>
                <a:latin typeface="Pretendard" panose="02000503000000020004" pitchFamily="50" charset="-127"/>
              </a:rPr>
              <a:t>여러 </a:t>
            </a:r>
            <a:r>
              <a:rPr lang="en-US" altLang="ko-KR" sz="1320">
                <a:solidFill>
                  <a:srgbClr val="475569"/>
                </a:solidFill>
                <a:latin typeface="Pretendard" panose="02000503000000020004" pitchFamily="50" charset="-127"/>
              </a:rPr>
              <a:t>AI </a:t>
            </a:r>
            <a:r>
              <a:rPr lang="ko-KR" altLang="en-US" sz="1320">
                <a:solidFill>
                  <a:srgbClr val="475569"/>
                </a:solidFill>
                <a:latin typeface="Pretendard" panose="02000503000000020004" pitchFamily="50" charset="-127"/>
              </a:rPr>
              <a:t>모델이 하나의 질문을 놓고 서로의 답변을 검토하고 반박한 뒤</a:t>
            </a:r>
            <a:r>
              <a:rPr lang="en-US" altLang="ko-KR" sz="132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320">
                <a:solidFill>
                  <a:srgbClr val="475569"/>
                </a:solidFill>
                <a:latin typeface="Pretendard" panose="02000503000000020004" pitchFamily="50" charset="-127"/>
              </a:rPr>
              <a:t>판정 모델이 최종 결론과 남은 쟁점을 정리하는 검증형 질의응답 시스템이다</a:t>
            </a:r>
            <a:r>
              <a:rPr lang="en-US" altLang="ko-KR" sz="13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3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5DA6247-C3E4-8401-5C67-F052AA6F1ECE}"/>
              </a:ext>
            </a:extLst>
          </p:cNvPr>
          <p:cNvSpPr/>
          <p:nvPr/>
        </p:nvSpPr>
        <p:spPr>
          <a:xfrm>
            <a:off x="533400" y="3632200"/>
            <a:ext cx="19050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2FB030-375C-1449-AEA8-2C8188E1EC3F}"/>
              </a:ext>
            </a:extLst>
          </p:cNvPr>
          <p:cNvSpPr txBox="1"/>
          <p:nvPr/>
        </p:nvSpPr>
        <p:spPr>
          <a:xfrm>
            <a:off x="711200" y="3721100"/>
            <a:ext cx="1574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12234195 </a:t>
            </a:r>
            <a:r>
              <a:rPr lang="ko-KR" altLang="en-US" sz="1000" b="1">
                <a:solidFill>
                  <a:srgbClr val="0F172A"/>
                </a:solidFill>
                <a:latin typeface="Pretendard" panose="02000503000000020004" pitchFamily="50" charset="-127"/>
              </a:rPr>
              <a:t>조진우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19D08C-1640-1635-6594-0815662B0B99}"/>
              </a:ext>
            </a:extLst>
          </p:cNvPr>
          <p:cNvSpPr/>
          <p:nvPr/>
        </p:nvSpPr>
        <p:spPr>
          <a:xfrm>
            <a:off x="2565400" y="3632200"/>
            <a:ext cx="14224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5EABE-C55D-11A3-E7A1-9D2579E07EDA}"/>
              </a:ext>
            </a:extLst>
          </p:cNvPr>
          <p:cNvSpPr txBox="1"/>
          <p:nvPr/>
        </p:nvSpPr>
        <p:spPr>
          <a:xfrm>
            <a:off x="2717800" y="3721100"/>
            <a:ext cx="1117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Pretendard</a:t>
            </a:r>
            <a:endParaRPr lang="ko-KR" altLang="en-US" sz="10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2091DDA-EB55-B0F0-60F2-5D17EF0CA192}"/>
              </a:ext>
            </a:extLst>
          </p:cNvPr>
          <p:cNvSpPr/>
          <p:nvPr/>
        </p:nvSpPr>
        <p:spPr>
          <a:xfrm>
            <a:off x="533400" y="4292600"/>
            <a:ext cx="15240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9A8D9-A14A-1850-DE68-388287F592F4}"/>
              </a:ext>
            </a:extLst>
          </p:cNvPr>
          <p:cNvSpPr txBox="1"/>
          <p:nvPr/>
        </p:nvSpPr>
        <p:spPr>
          <a:xfrm>
            <a:off x="660400" y="4381500"/>
            <a:ext cx="127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20" b="1">
                <a:solidFill>
                  <a:srgbClr val="0F172A"/>
                </a:solidFill>
                <a:latin typeface="Pretendard" panose="02000503000000020004" pitchFamily="50" charset="-127"/>
              </a:rPr>
              <a:t>모델 선택 가능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FB3A9E1-4A77-1095-2439-67DE88B8B07C}"/>
              </a:ext>
            </a:extLst>
          </p:cNvPr>
          <p:cNvSpPr/>
          <p:nvPr/>
        </p:nvSpPr>
        <p:spPr>
          <a:xfrm>
            <a:off x="2184400" y="4292600"/>
            <a:ext cx="15240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A542B-40CA-50D2-BD2A-A64D0F68DB02}"/>
              </a:ext>
            </a:extLst>
          </p:cNvPr>
          <p:cNvSpPr txBox="1"/>
          <p:nvPr/>
        </p:nvSpPr>
        <p:spPr>
          <a:xfrm>
            <a:off x="2311400" y="4381500"/>
            <a:ext cx="127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20" b="1">
                <a:solidFill>
                  <a:srgbClr val="0F172A"/>
                </a:solidFill>
                <a:latin typeface="Pretendard" panose="02000503000000020004" pitchFamily="50" charset="-127"/>
              </a:rPr>
              <a:t>대화 라운드 설정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4F28F22-DDD0-F60C-EAB7-E221F675E742}"/>
              </a:ext>
            </a:extLst>
          </p:cNvPr>
          <p:cNvSpPr/>
          <p:nvPr/>
        </p:nvSpPr>
        <p:spPr>
          <a:xfrm>
            <a:off x="3835400" y="4292600"/>
            <a:ext cx="11684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45DBBF-AEF0-C1C3-1B56-92745E35F95F}"/>
              </a:ext>
            </a:extLst>
          </p:cNvPr>
          <p:cNvSpPr txBox="1"/>
          <p:nvPr/>
        </p:nvSpPr>
        <p:spPr>
          <a:xfrm>
            <a:off x="3962400" y="4381500"/>
            <a:ext cx="914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20" b="1">
                <a:solidFill>
                  <a:srgbClr val="0F172A"/>
                </a:solidFill>
                <a:latin typeface="Pretendard" panose="02000503000000020004" pitchFamily="50" charset="-127"/>
              </a:rPr>
              <a:t>판정 모델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058C4E8-1376-EE76-F8A2-5A44EBE4AF9F}"/>
              </a:ext>
            </a:extLst>
          </p:cNvPr>
          <p:cNvSpPr/>
          <p:nvPr/>
        </p:nvSpPr>
        <p:spPr>
          <a:xfrm>
            <a:off x="5130800" y="4292600"/>
            <a:ext cx="14986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24EE73-999C-C3E0-296D-C238C52EA3CA}"/>
              </a:ext>
            </a:extLst>
          </p:cNvPr>
          <p:cNvSpPr txBox="1"/>
          <p:nvPr/>
        </p:nvSpPr>
        <p:spPr>
          <a:xfrm>
            <a:off x="5257800" y="4381500"/>
            <a:ext cx="1244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20" b="1">
                <a:solidFill>
                  <a:srgbClr val="0F172A"/>
                </a:solidFill>
                <a:latin typeface="Pretendard" panose="02000503000000020004" pitchFamily="50" charset="-127"/>
              </a:rPr>
              <a:t>불확실성 표시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664CF9-E245-110A-393D-5E283464B7C7}"/>
              </a:ext>
            </a:extLst>
          </p:cNvPr>
          <p:cNvSpPr/>
          <p:nvPr/>
        </p:nvSpPr>
        <p:spPr>
          <a:xfrm>
            <a:off x="7188200" y="889000"/>
            <a:ext cx="4114800" cy="45720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3D91326-82BC-586A-DBDC-D08F15D347E2}"/>
              </a:ext>
            </a:extLst>
          </p:cNvPr>
          <p:cNvSpPr/>
          <p:nvPr/>
        </p:nvSpPr>
        <p:spPr>
          <a:xfrm>
            <a:off x="8559800" y="2006600"/>
            <a:ext cx="1371600" cy="1371600"/>
          </a:xfrm>
          <a:prstGeom prst="ellipse">
            <a:avLst/>
          </a:prstGeom>
          <a:solidFill>
            <a:srgbClr val="DBEAFE">
              <a:alpha val="88000"/>
            </a:srgbClr>
          </a:solidFill>
          <a:ln w="38100" cap="flat" cmpd="sng" algn="ctr">
            <a:solidFill>
              <a:srgbClr val="2563EB">
                <a:alpha val="9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BBAF68-6CD7-10BB-A8B3-1BB52B846270}"/>
              </a:ext>
            </a:extLst>
          </p:cNvPr>
          <p:cNvSpPr txBox="1"/>
          <p:nvPr/>
        </p:nvSpPr>
        <p:spPr>
          <a:xfrm>
            <a:off x="8839200" y="24384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563EB"/>
                </a:solidFill>
                <a:latin typeface="Pretendard" panose="02000503000000020004" pitchFamily="50" charset="-127"/>
              </a:rPr>
              <a:t>판정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0CD5586-5890-32A8-4CBA-D42C77F31047}"/>
              </a:ext>
            </a:extLst>
          </p:cNvPr>
          <p:cNvCxnSpPr/>
          <p:nvPr/>
        </p:nvCxnSpPr>
        <p:spPr>
          <a:xfrm flipH="1" flipV="1">
            <a:off x="8204200" y="1574800"/>
            <a:ext cx="1041400" cy="1117600"/>
          </a:xfrm>
          <a:prstGeom prst="line">
            <a:avLst/>
          </a:prstGeom>
          <a:ln w="19050" cap="flat" cmpd="sng" algn="ctr">
            <a:solidFill>
              <a:srgbClr val="14B8A6">
                <a:alpha val="7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7FDC819-8DAB-56DD-4C86-48FBF5B91182}"/>
              </a:ext>
            </a:extLst>
          </p:cNvPr>
          <p:cNvCxnSpPr/>
          <p:nvPr/>
        </p:nvCxnSpPr>
        <p:spPr>
          <a:xfrm flipV="1">
            <a:off x="9245600" y="1701800"/>
            <a:ext cx="1270000" cy="990600"/>
          </a:xfrm>
          <a:prstGeom prst="line">
            <a:avLst/>
          </a:prstGeom>
          <a:ln w="19050" cap="flat" cmpd="sng" algn="ctr">
            <a:solidFill>
              <a:srgbClr val="7C3AED">
                <a:alpha val="7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098C23A-F0C6-FD42-93AF-99618703893E}"/>
              </a:ext>
            </a:extLst>
          </p:cNvPr>
          <p:cNvCxnSpPr/>
          <p:nvPr/>
        </p:nvCxnSpPr>
        <p:spPr>
          <a:xfrm flipH="1">
            <a:off x="8077200" y="2692400"/>
            <a:ext cx="1168400" cy="1295400"/>
          </a:xfrm>
          <a:prstGeom prst="line">
            <a:avLst/>
          </a:prstGeom>
          <a:ln w="19050" cap="flat" cmpd="sng" algn="ctr">
            <a:solidFill>
              <a:srgbClr val="2563EB">
                <a:alpha val="7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E15A6F8-1B27-F35B-C2E7-1ACECB87D8EB}"/>
              </a:ext>
            </a:extLst>
          </p:cNvPr>
          <p:cNvCxnSpPr/>
          <p:nvPr/>
        </p:nvCxnSpPr>
        <p:spPr>
          <a:xfrm>
            <a:off x="9245600" y="2692400"/>
            <a:ext cx="1219200" cy="1346200"/>
          </a:xfrm>
          <a:prstGeom prst="line">
            <a:avLst/>
          </a:prstGeom>
          <a:ln w="19050" cap="flat" cmpd="sng" algn="ctr">
            <a:solidFill>
              <a:srgbClr val="F97316">
                <a:alpha val="7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98D0F19-3A0F-00B6-6B83-3847239011FB}"/>
              </a:ext>
            </a:extLst>
          </p:cNvPr>
          <p:cNvSpPr/>
          <p:nvPr/>
        </p:nvSpPr>
        <p:spPr>
          <a:xfrm>
            <a:off x="7594600" y="1270000"/>
            <a:ext cx="12192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76FFA1-EB9C-70CA-5BE1-83128D870DC0}"/>
              </a:ext>
            </a:extLst>
          </p:cNvPr>
          <p:cNvSpPr txBox="1"/>
          <p:nvPr/>
        </p:nvSpPr>
        <p:spPr>
          <a:xfrm>
            <a:off x="7747000" y="13843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GPT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32B2D40-5EB5-9E14-E84E-10A6B25ACA38}"/>
              </a:ext>
            </a:extLst>
          </p:cNvPr>
          <p:cNvSpPr/>
          <p:nvPr/>
        </p:nvSpPr>
        <p:spPr>
          <a:xfrm>
            <a:off x="10033000" y="1397000"/>
            <a:ext cx="12192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40861D-A1A6-1ECA-8C67-B37C9B451827}"/>
              </a:ext>
            </a:extLst>
          </p:cNvPr>
          <p:cNvSpPr txBox="1"/>
          <p:nvPr/>
        </p:nvSpPr>
        <p:spPr>
          <a:xfrm>
            <a:off x="10185400" y="15113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b="1">
                <a:solidFill>
                  <a:srgbClr val="F97316"/>
                </a:solidFill>
                <a:latin typeface="Pretendard" panose="02000503000000020004" pitchFamily="50" charset="-127"/>
              </a:rPr>
              <a:t>Claude</a:t>
            </a:r>
            <a:endParaRPr lang="ko-KR" altLang="en-US" sz="1050" b="1">
              <a:solidFill>
                <a:srgbClr val="F97316"/>
              </a:solidFill>
              <a:latin typeface="Pretendard" panose="0200050300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0352764-14BF-8D15-BC59-0FC2B475770C}"/>
              </a:ext>
            </a:extLst>
          </p:cNvPr>
          <p:cNvSpPr/>
          <p:nvPr/>
        </p:nvSpPr>
        <p:spPr>
          <a:xfrm>
            <a:off x="7518400" y="4038600"/>
            <a:ext cx="12192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7EE318-5D8A-6A7C-AFC1-C9B50173C89D}"/>
              </a:ext>
            </a:extLst>
          </p:cNvPr>
          <p:cNvSpPr txBox="1"/>
          <p:nvPr/>
        </p:nvSpPr>
        <p:spPr>
          <a:xfrm>
            <a:off x="7670800" y="41529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b="1">
                <a:solidFill>
                  <a:srgbClr val="1E293B"/>
                </a:solidFill>
                <a:latin typeface="Pretendard" panose="02000503000000020004" pitchFamily="50" charset="-127"/>
              </a:rPr>
              <a:t>Grok</a:t>
            </a:r>
            <a:endParaRPr lang="ko-KR" altLang="en-US" sz="1050" b="1">
              <a:solidFill>
                <a:srgbClr val="1E293B"/>
              </a:solidFill>
              <a:latin typeface="Pretendard" panose="0200050300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595B53D-F094-F4F2-60E2-54F8835430B5}"/>
              </a:ext>
            </a:extLst>
          </p:cNvPr>
          <p:cNvSpPr/>
          <p:nvPr/>
        </p:nvSpPr>
        <p:spPr>
          <a:xfrm>
            <a:off x="9956800" y="4114800"/>
            <a:ext cx="12192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EBCE42-FF7C-8E2E-A46F-23FBA472BEC7}"/>
              </a:ext>
            </a:extLst>
          </p:cNvPr>
          <p:cNvSpPr txBox="1"/>
          <p:nvPr/>
        </p:nvSpPr>
        <p:spPr>
          <a:xfrm>
            <a:off x="10109200" y="42291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b="1">
                <a:solidFill>
                  <a:srgbClr val="7C3AED"/>
                </a:solidFill>
                <a:latin typeface="Pretendard" panose="02000503000000020004" pitchFamily="50" charset="-127"/>
              </a:rPr>
              <a:t>Gemini</a:t>
            </a:r>
            <a:endParaRPr lang="ko-KR" altLang="en-US" sz="1050" b="1">
              <a:solidFill>
                <a:srgbClr val="7C3AED"/>
              </a:solidFill>
              <a:latin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1B9B446-109C-A29B-0EDB-4789B0BAA16B}"/>
              </a:ext>
            </a:extLst>
          </p:cNvPr>
          <p:cNvSpPr/>
          <p:nvPr/>
        </p:nvSpPr>
        <p:spPr>
          <a:xfrm>
            <a:off x="7493000" y="4978400"/>
            <a:ext cx="3505200" cy="939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95B1EC-3311-885C-1AAD-E86289032468}"/>
              </a:ext>
            </a:extLst>
          </p:cNvPr>
          <p:cNvSpPr txBox="1"/>
          <p:nvPr/>
        </p:nvSpPr>
        <p:spPr>
          <a:xfrm>
            <a:off x="7696200" y="51816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핵심 메시지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A52580-59F8-AE59-47D1-A4B18C04F832}"/>
              </a:ext>
            </a:extLst>
          </p:cNvPr>
          <p:cNvSpPr txBox="1"/>
          <p:nvPr/>
        </p:nvSpPr>
        <p:spPr>
          <a:xfrm>
            <a:off x="7696200" y="54356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단일 응답보다 검증된 응답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C11B3B-5493-4AA1-A789-A73470A95722}"/>
              </a:ext>
            </a:extLst>
          </p:cNvPr>
          <p:cNvSpPr txBox="1"/>
          <p:nvPr/>
        </p:nvSpPr>
        <p:spPr>
          <a:xfrm>
            <a:off x="7696200" y="59944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20">
                <a:solidFill>
                  <a:srgbClr val="475569"/>
                </a:solidFill>
                <a:latin typeface="Pretendard" panose="02000503000000020004" pitchFamily="50" charset="-127"/>
              </a:rPr>
              <a:t>여러 모델의 검토를 거친 답변이 더 신뢰할 만하다</a:t>
            </a:r>
            <a:r>
              <a:rPr lang="en-US" altLang="ko-KR" sz="10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D48B3-5E4A-D250-DA67-F850466277BF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이론과제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1 </a:t>
            </a:r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발표자료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9D6C13-D9CF-3DAC-F959-91A667CB8394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01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513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D92CC8D0-FAF5-EBBE-4D98-5A42018E25F9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D6B64EB-2026-C339-C86B-FF6595063F99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D366F88-80C0-A227-3F2E-C11DD821C198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931CD65-D32C-3132-A9F8-6DF7CCC53064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90501-DBFA-1A10-0A6C-C2F1599714F7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발표 개요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C7457-B7F8-6357-D1CA-CCEC00364E90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02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515FC69-A127-21AA-4229-E4CEB1C13A4B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E7D456-5B90-7F1B-BEEE-511D962702F2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발표 흐름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EF740-E23D-F117-780E-E8DB79FE607A}"/>
              </a:ext>
            </a:extLst>
          </p:cNvPr>
          <p:cNvSpPr txBox="1"/>
          <p:nvPr/>
        </p:nvSpPr>
        <p:spPr>
          <a:xfrm>
            <a:off x="533400" y="1333500"/>
            <a:ext cx="10541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문제 배경과 근거를 먼저 제시한 뒤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제안 시스템의 개념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사용자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핵심 기능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비교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결론 순서로 발표한다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2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70D0C7A-58AD-6641-0539-7C9C7D8F241E}"/>
              </a:ext>
            </a:extLst>
          </p:cNvPr>
          <p:cNvSpPr/>
          <p:nvPr/>
        </p:nvSpPr>
        <p:spPr>
          <a:xfrm>
            <a:off x="533400" y="2006600"/>
            <a:ext cx="2616200" cy="1905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B2938-F1F2-D794-34FC-D1197052AEA5}"/>
              </a:ext>
            </a:extLst>
          </p:cNvPr>
          <p:cNvSpPr txBox="1"/>
          <p:nvPr/>
        </p:nvSpPr>
        <p:spPr>
          <a:xfrm>
            <a:off x="736600" y="2209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01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31EDF-BEBF-F221-A4F1-A1AA37DBB828}"/>
              </a:ext>
            </a:extLst>
          </p:cNvPr>
          <p:cNvSpPr txBox="1"/>
          <p:nvPr/>
        </p:nvSpPr>
        <p:spPr>
          <a:xfrm>
            <a:off x="7366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문제와 근거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4BB017-8956-2434-5F84-D51D4EF26030}"/>
              </a:ext>
            </a:extLst>
          </p:cNvPr>
          <p:cNvSpPr txBox="1"/>
          <p:nvPr/>
        </p:nvSpPr>
        <p:spPr>
          <a:xfrm>
            <a:off x="736600" y="3022600"/>
            <a:ext cx="22098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AI </a:t>
            </a:r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환각이 왜 중요한지와 최신 수치를 먼저 확인한다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9A36210-8234-64BE-7FB9-2D1FA0AD6E5A}"/>
              </a:ext>
            </a:extLst>
          </p:cNvPr>
          <p:cNvSpPr/>
          <p:nvPr/>
        </p:nvSpPr>
        <p:spPr>
          <a:xfrm>
            <a:off x="3378200" y="2006600"/>
            <a:ext cx="2616200" cy="1905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853803-AFE0-84C2-1366-8FC6397B267E}"/>
              </a:ext>
            </a:extLst>
          </p:cNvPr>
          <p:cNvSpPr txBox="1"/>
          <p:nvPr/>
        </p:nvSpPr>
        <p:spPr>
          <a:xfrm>
            <a:off x="3581400" y="2209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02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9D8597-C174-7B85-C191-8BEAD442EC4A}"/>
              </a:ext>
            </a:extLst>
          </p:cNvPr>
          <p:cNvSpPr txBox="1"/>
          <p:nvPr/>
        </p:nvSpPr>
        <p:spPr>
          <a:xfrm>
            <a:off x="35814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시스템 개념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A4BEB5-F084-41DA-6B54-9941371FBF9D}"/>
              </a:ext>
            </a:extLst>
          </p:cNvPr>
          <p:cNvSpPr txBox="1"/>
          <p:nvPr/>
        </p:nvSpPr>
        <p:spPr>
          <a:xfrm>
            <a:off x="3581400" y="3022600"/>
            <a:ext cx="22098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무엇을 제안하는지와 작동 구조를 설명한다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49AF528-9939-6E3D-E86F-B66313B0BD82}"/>
              </a:ext>
            </a:extLst>
          </p:cNvPr>
          <p:cNvSpPr/>
          <p:nvPr/>
        </p:nvSpPr>
        <p:spPr>
          <a:xfrm>
            <a:off x="6223000" y="2006600"/>
            <a:ext cx="2616200" cy="1905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73BA4F-4F37-B33C-36EC-CD85735D4BC5}"/>
              </a:ext>
            </a:extLst>
          </p:cNvPr>
          <p:cNvSpPr txBox="1"/>
          <p:nvPr/>
        </p:nvSpPr>
        <p:spPr>
          <a:xfrm>
            <a:off x="6426200" y="2209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03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023E83-0B16-3002-9235-79FCD9E48507}"/>
              </a:ext>
            </a:extLst>
          </p:cNvPr>
          <p:cNvSpPr txBox="1"/>
          <p:nvPr/>
        </p:nvSpPr>
        <p:spPr>
          <a:xfrm>
            <a:off x="64262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사용자와 기능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073468-89E2-C8D4-C52A-62CE866DD2EA}"/>
              </a:ext>
            </a:extLst>
          </p:cNvPr>
          <p:cNvSpPr txBox="1"/>
          <p:nvPr/>
        </p:nvSpPr>
        <p:spPr>
          <a:xfrm>
            <a:off x="6426200" y="3022600"/>
            <a:ext cx="22098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누가 쓰는지와 핵심 기능 세 가지를 정리한다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BF0BBAA-8988-5D33-B4CC-3D58BB68B60F}"/>
              </a:ext>
            </a:extLst>
          </p:cNvPr>
          <p:cNvSpPr/>
          <p:nvPr/>
        </p:nvSpPr>
        <p:spPr>
          <a:xfrm>
            <a:off x="9067800" y="2006600"/>
            <a:ext cx="2616200" cy="1905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AD9E21-5206-2567-A3FE-9ADF17840E35}"/>
              </a:ext>
            </a:extLst>
          </p:cNvPr>
          <p:cNvSpPr txBox="1"/>
          <p:nvPr/>
        </p:nvSpPr>
        <p:spPr>
          <a:xfrm>
            <a:off x="9271000" y="2209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04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E6D1F7-8DC9-438A-536D-5E4A7CF6C682}"/>
              </a:ext>
            </a:extLst>
          </p:cNvPr>
          <p:cNvSpPr txBox="1"/>
          <p:nvPr/>
        </p:nvSpPr>
        <p:spPr>
          <a:xfrm>
            <a:off x="92710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비교와 결론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11D714-9D90-1F10-8451-335FBEAF4258}"/>
              </a:ext>
            </a:extLst>
          </p:cNvPr>
          <p:cNvSpPr txBox="1"/>
          <p:nvPr/>
        </p:nvSpPr>
        <p:spPr>
          <a:xfrm>
            <a:off x="9271000" y="3022600"/>
            <a:ext cx="22098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유사 시스템과의 차이와 최종 메시지를 정리한다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8AC843A-794B-E090-FF3C-3F596D194F3A}"/>
              </a:ext>
            </a:extLst>
          </p:cNvPr>
          <p:cNvSpPr/>
          <p:nvPr/>
        </p:nvSpPr>
        <p:spPr>
          <a:xfrm>
            <a:off x="533400" y="4292600"/>
            <a:ext cx="11150600" cy="7366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E54B3-58D7-11A2-E295-D6F92B9324CE}"/>
              </a:ext>
            </a:extLst>
          </p:cNvPr>
          <p:cNvSpPr txBox="1"/>
          <p:nvPr/>
        </p:nvSpPr>
        <p:spPr>
          <a:xfrm>
            <a:off x="762000" y="44450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이번 발표의 중심은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더 똑똑한 단일 모델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이 아니라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, 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검증 가능한 구조를 가진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AI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시스템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이라는 점이다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91EF0A-441C-63F9-8E8A-4A59E42F1BC1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Agenda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A78341-07E5-464E-4AFE-96B0961F2800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02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423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56A1495E-0A2C-BB49-04F6-D7F9AFF9DC35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A35471C-C4A2-6A95-32D0-9E36AB0CE8C0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E269C20-9227-5F3D-481A-2952466B1091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AA9AF6E-62AC-0B41-701B-97248AB5796D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4F692-94F6-1B35-244D-F30B24FC603A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문제 배경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5208C-1755-9627-3683-8FC4D74257BB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03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FB8E175-D422-1E62-F9B7-2A12BF8B1E1B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A951D4-DED6-40E0-9723-BFED42D6E7C7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왜 </a:t>
            </a:r>
            <a:r>
              <a:rPr lang="en-US" altLang="ko-KR" sz="2600" b="1">
                <a:solidFill>
                  <a:srgbClr val="0F172A"/>
                </a:solidFill>
                <a:latin typeface="Pretendard" panose="02000503000000020004" pitchFamily="50" charset="-127"/>
              </a:rPr>
              <a:t>AI </a:t>
            </a:r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환각을 줄이는 구조가 필요한가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BB0A309-AF5D-3688-8A31-3085631B7235}"/>
              </a:ext>
            </a:extLst>
          </p:cNvPr>
          <p:cNvSpPr/>
          <p:nvPr/>
        </p:nvSpPr>
        <p:spPr>
          <a:xfrm>
            <a:off x="533400" y="1879600"/>
            <a:ext cx="4191000" cy="27940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E293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385D-D665-A85F-A7AC-C867BA294F8E}"/>
              </a:ext>
            </a:extLst>
          </p:cNvPr>
          <p:cNvSpPr txBox="1"/>
          <p:nvPr/>
        </p:nvSpPr>
        <p:spPr>
          <a:xfrm>
            <a:off x="736600" y="2082800"/>
            <a:ext cx="378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DBEAFE"/>
                </a:solidFill>
                <a:latin typeface="Pretendard" panose="02000503000000020004" pitchFamily="50" charset="-127"/>
              </a:rPr>
              <a:t>문제 정의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4718B8-958A-9A7B-9F83-9E0E983E7570}"/>
              </a:ext>
            </a:extLst>
          </p:cNvPr>
          <p:cNvSpPr txBox="1"/>
          <p:nvPr/>
        </p:nvSpPr>
        <p:spPr>
          <a:xfrm>
            <a:off x="736600" y="2336800"/>
            <a:ext cx="3784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FFFFF"/>
                </a:solidFill>
                <a:latin typeface="Pretendard" panose="02000503000000020004" pitchFamily="50" charset="-127"/>
              </a:rPr>
              <a:t>유창한 답변이 항상 정확한 답변은 아니다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AC531-C4DF-0F89-4EE5-10837A9AF9F6}"/>
              </a:ext>
            </a:extLst>
          </p:cNvPr>
          <p:cNvSpPr txBox="1"/>
          <p:nvPr/>
        </p:nvSpPr>
        <p:spPr>
          <a:xfrm>
            <a:off x="736600" y="2895600"/>
            <a:ext cx="3784600" cy="19389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10">
                <a:solidFill>
                  <a:srgbClr val="DBEAFE"/>
                </a:solidFill>
                <a:latin typeface="Pretendard" panose="02000503000000020004" pitchFamily="50" charset="-127"/>
              </a:rPr>
              <a:t>• </a:t>
            </a:r>
            <a:r>
              <a:rPr lang="ko-KR" altLang="en-US" sz="1110">
                <a:solidFill>
                  <a:srgbClr val="DBEAFE"/>
                </a:solidFill>
                <a:latin typeface="Pretendard" panose="02000503000000020004" pitchFamily="50" charset="-127"/>
              </a:rPr>
              <a:t>그럴듯한 문장은 오류를 더 늦게 발견하게 만든다</a:t>
            </a:r>
            <a:r>
              <a:rPr lang="en-US" altLang="ko-KR" sz="1110">
                <a:solidFill>
                  <a:srgbClr val="DBEAFE"/>
                </a:solidFill>
                <a:latin typeface="Pretendard" panose="02000503000000020004" pitchFamily="50" charset="-127"/>
              </a:rPr>
              <a:t>.
• </a:t>
            </a:r>
            <a:r>
              <a:rPr lang="ko-KR" altLang="en-US" sz="1110">
                <a:solidFill>
                  <a:srgbClr val="DBEAFE"/>
                </a:solidFill>
                <a:latin typeface="Pretendard" panose="02000503000000020004" pitchFamily="50" charset="-127"/>
              </a:rPr>
              <a:t>과제</a:t>
            </a:r>
            <a:r>
              <a:rPr lang="en-US" altLang="ko-KR" sz="111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10">
                <a:solidFill>
                  <a:srgbClr val="DBEAFE"/>
                </a:solidFill>
                <a:latin typeface="Pretendard" panose="02000503000000020004" pitchFamily="50" charset="-127"/>
              </a:rPr>
              <a:t>보고서</a:t>
            </a:r>
            <a:r>
              <a:rPr lang="en-US" altLang="ko-KR" sz="111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10">
                <a:solidFill>
                  <a:srgbClr val="DBEAFE"/>
                </a:solidFill>
                <a:latin typeface="Pretendard" panose="02000503000000020004" pitchFamily="50" charset="-127"/>
              </a:rPr>
              <a:t>조사처럼 정확성이 중요한 작업에서는 사용자가 매번 직접 검증해야 한다</a:t>
            </a:r>
            <a:r>
              <a:rPr lang="en-US" altLang="ko-KR" sz="1110">
                <a:solidFill>
                  <a:srgbClr val="DBEAFE"/>
                </a:solidFill>
                <a:latin typeface="Pretendard" panose="02000503000000020004" pitchFamily="50" charset="-127"/>
              </a:rPr>
              <a:t>.
• </a:t>
            </a:r>
            <a:r>
              <a:rPr lang="ko-KR" altLang="en-US" sz="1110">
                <a:solidFill>
                  <a:srgbClr val="DBEAFE"/>
                </a:solidFill>
                <a:latin typeface="Pretendard" panose="02000503000000020004" pitchFamily="50" charset="-127"/>
              </a:rPr>
              <a:t>결과만 보여주는 </a:t>
            </a:r>
            <a:r>
              <a:rPr lang="en-US" altLang="ko-KR" sz="1110">
                <a:solidFill>
                  <a:srgbClr val="DBEAFE"/>
                </a:solidFill>
                <a:latin typeface="Pretendard" panose="02000503000000020004" pitchFamily="50" charset="-127"/>
              </a:rPr>
              <a:t>AI</a:t>
            </a:r>
            <a:r>
              <a:rPr lang="ko-KR" altLang="en-US" sz="1110">
                <a:solidFill>
                  <a:srgbClr val="DBEAFE"/>
                </a:solidFill>
                <a:latin typeface="Pretendard" panose="02000503000000020004" pitchFamily="50" charset="-127"/>
              </a:rPr>
              <a:t>는 판단 과정이 보이지 않아 신뢰도를 따지기 어렵다</a:t>
            </a:r>
            <a:r>
              <a:rPr lang="en-US" altLang="ko-KR" sz="1110">
                <a:solidFill>
                  <a:srgbClr val="DBEAFE"/>
                </a:solidFill>
                <a:latin typeface="Pretendard" panose="02000503000000020004" pitchFamily="50" charset="-127"/>
              </a:rPr>
              <a:t>.</a:t>
            </a:r>
            <a:endParaRPr lang="ko-KR" altLang="en-US" sz="1110">
              <a:solidFill>
                <a:srgbClr val="DBEAFE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5045947-CB2A-9720-D4C0-9657BF320115}"/>
              </a:ext>
            </a:extLst>
          </p:cNvPr>
          <p:cNvSpPr/>
          <p:nvPr/>
        </p:nvSpPr>
        <p:spPr>
          <a:xfrm>
            <a:off x="5029200" y="1879600"/>
            <a:ext cx="3073400" cy="1193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C6026C-1346-07A5-DE53-46FF71492127}"/>
              </a:ext>
            </a:extLst>
          </p:cNvPr>
          <p:cNvSpPr txBox="1"/>
          <p:nvPr/>
        </p:nvSpPr>
        <p:spPr>
          <a:xfrm>
            <a:off x="5232400" y="2082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0F172A"/>
                </a:solidFill>
                <a:latin typeface="Pretendard" panose="02000503000000020004" pitchFamily="50" charset="-127"/>
              </a:rPr>
              <a:t>Fluent</a:t>
            </a:r>
            <a:endParaRPr lang="ko-KR" altLang="en-US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25C640-DC7A-3F4E-4DBB-53C18188D85F}"/>
              </a:ext>
            </a:extLst>
          </p:cNvPr>
          <p:cNvSpPr txBox="1"/>
          <p:nvPr/>
        </p:nvSpPr>
        <p:spPr>
          <a:xfrm>
            <a:off x="5232400" y="2641600"/>
            <a:ext cx="2667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틀린 내용도 자연스럽게 말하면 신뢰되기 쉽다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84265F-2C59-94C2-5101-57AC0BC92CFB}"/>
              </a:ext>
            </a:extLst>
          </p:cNvPr>
          <p:cNvSpPr/>
          <p:nvPr/>
        </p:nvSpPr>
        <p:spPr>
          <a:xfrm>
            <a:off x="8331200" y="1879600"/>
            <a:ext cx="3073400" cy="1193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1576F0-9873-B182-59C5-CB037C131505}"/>
              </a:ext>
            </a:extLst>
          </p:cNvPr>
          <p:cNvSpPr txBox="1"/>
          <p:nvPr/>
        </p:nvSpPr>
        <p:spPr>
          <a:xfrm>
            <a:off x="8534400" y="2082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0F172A"/>
                </a:solidFill>
                <a:latin typeface="Pretendard" panose="02000503000000020004" pitchFamily="50" charset="-127"/>
              </a:rPr>
              <a:t>Costly</a:t>
            </a:r>
            <a:endParaRPr lang="ko-KR" altLang="en-US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8D9498-7E27-4BC4-DC00-896C28383D38}"/>
              </a:ext>
            </a:extLst>
          </p:cNvPr>
          <p:cNvSpPr txBox="1"/>
          <p:nvPr/>
        </p:nvSpPr>
        <p:spPr>
          <a:xfrm>
            <a:off x="8534400" y="2641600"/>
            <a:ext cx="2667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사용자가 다시 검색하고 검토하는 비용이 커진다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119FE51-24D4-9301-9C6F-E9A640484EFA}"/>
              </a:ext>
            </a:extLst>
          </p:cNvPr>
          <p:cNvSpPr/>
          <p:nvPr/>
        </p:nvSpPr>
        <p:spPr>
          <a:xfrm>
            <a:off x="5029200" y="3378200"/>
            <a:ext cx="3073400" cy="1193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7B06F5-D169-57A1-2B4C-DE0203ABADAC}"/>
              </a:ext>
            </a:extLst>
          </p:cNvPr>
          <p:cNvSpPr txBox="1"/>
          <p:nvPr/>
        </p:nvSpPr>
        <p:spPr>
          <a:xfrm>
            <a:off x="5232400" y="358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0F172A"/>
                </a:solidFill>
                <a:latin typeface="Pretendard" panose="02000503000000020004" pitchFamily="50" charset="-127"/>
              </a:rPr>
              <a:t>Opaque</a:t>
            </a:r>
            <a:endParaRPr lang="ko-KR" altLang="en-US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8616EC-2FEB-F5CF-B6A9-423B627C5B9F}"/>
              </a:ext>
            </a:extLst>
          </p:cNvPr>
          <p:cNvSpPr txBox="1"/>
          <p:nvPr/>
        </p:nvSpPr>
        <p:spPr>
          <a:xfrm>
            <a:off x="5232400" y="4140200"/>
            <a:ext cx="2667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판단 과정이 숨겨지면 답변의 질을 평가하기 어렵다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11C809B-BAA5-CCFE-8A52-03ED1DEDFB5E}"/>
              </a:ext>
            </a:extLst>
          </p:cNvPr>
          <p:cNvSpPr/>
          <p:nvPr/>
        </p:nvSpPr>
        <p:spPr>
          <a:xfrm>
            <a:off x="8331200" y="3378200"/>
            <a:ext cx="3073400" cy="1193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02D2B0-C2C0-6B04-1CE1-A4188EDF7D76}"/>
              </a:ext>
            </a:extLst>
          </p:cNvPr>
          <p:cNvSpPr txBox="1"/>
          <p:nvPr/>
        </p:nvSpPr>
        <p:spPr>
          <a:xfrm>
            <a:off x="8534400" y="358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b="1">
                <a:solidFill>
                  <a:srgbClr val="0F172A"/>
                </a:solidFill>
                <a:latin typeface="Pretendard" panose="02000503000000020004" pitchFamily="50" charset="-127"/>
              </a:rPr>
              <a:t>Risky</a:t>
            </a:r>
            <a:endParaRPr lang="ko-KR" altLang="en-US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2C8271-95DD-1EBA-65AE-3D31C150D585}"/>
              </a:ext>
            </a:extLst>
          </p:cNvPr>
          <p:cNvSpPr txBox="1"/>
          <p:nvPr/>
        </p:nvSpPr>
        <p:spPr>
          <a:xfrm>
            <a:off x="8534400" y="4140200"/>
            <a:ext cx="2667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작은 오류 하나가 잘못된 문서와 의사결정으로 이어질 수 있다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910D6B9-08CA-E9A2-40B3-0E7A4C477F6A}"/>
              </a:ext>
            </a:extLst>
          </p:cNvPr>
          <p:cNvSpPr/>
          <p:nvPr/>
        </p:nvSpPr>
        <p:spPr>
          <a:xfrm>
            <a:off x="533400" y="4978400"/>
            <a:ext cx="5334000" cy="7112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B82AB-37BF-7783-A535-9AC8E80797D1}"/>
              </a:ext>
            </a:extLst>
          </p:cNvPr>
          <p:cNvSpPr txBox="1"/>
          <p:nvPr/>
        </p:nvSpPr>
        <p:spPr>
          <a:xfrm>
            <a:off x="762000" y="5130800"/>
            <a:ext cx="4876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따라서 필요한 것은 결과를 더 화려하게 만드는 기술이 아니라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결과를 검증하는 구조이다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F789C40-BC48-95D3-143E-B03D79AB50E1}"/>
              </a:ext>
            </a:extLst>
          </p:cNvPr>
          <p:cNvSpPr/>
          <p:nvPr/>
        </p:nvSpPr>
        <p:spPr>
          <a:xfrm>
            <a:off x="6350000" y="4978400"/>
            <a:ext cx="5054600" cy="7112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EF3FC1-2D40-1021-7EAD-EB893C97D137}"/>
              </a:ext>
            </a:extLst>
          </p:cNvPr>
          <p:cNvSpPr txBox="1"/>
          <p:nvPr/>
        </p:nvSpPr>
        <p:spPr>
          <a:xfrm>
            <a:off x="6578600" y="5130800"/>
            <a:ext cx="4597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Nature 2024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는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hallucination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을 사용자가 출력의 정확성을 신뢰하지 못하게 만드는 핵심 문제로 다룬다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1B685E-B45C-0052-4171-50F7F57D451C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문제 배경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8FB59D-6DEB-21A0-D29B-A7E4C4C31538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03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5921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B5887408-C468-E88B-59F5-9CC65D68BFF7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FC822F8-6583-DBF5-D7E2-B4A96E9A3751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9CFAEF6-A35E-2E0E-22EB-16E705F536C9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CFDE9D1-BE9C-9C5E-D7BB-BD836103EC7D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96396-1F91-D657-D304-E9091FB225FF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근거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1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92EB7-B9CF-0041-A6E8-92562F8DBB9A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04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6909F3A-463B-6334-FBE6-92069330D714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9BC591-2015-2E96-F39E-3EC6A0FC1A2C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최신 모델도 </a:t>
            </a:r>
            <a:r>
              <a:rPr lang="en-US" altLang="ko-KR" sz="2600" b="1">
                <a:solidFill>
                  <a:srgbClr val="0F172A"/>
                </a:solidFill>
                <a:latin typeface="Pretendard" panose="02000503000000020004" pitchFamily="50" charset="-127"/>
              </a:rPr>
              <a:t>hallucination</a:t>
            </a:r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을 완전히 없애지 못했다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DE7CB4-1132-BDA5-2E5F-5DADC19E5362}"/>
              </a:ext>
            </a:extLst>
          </p:cNvPr>
          <p:cNvSpPr txBox="1"/>
          <p:nvPr/>
        </p:nvSpPr>
        <p:spPr>
          <a:xfrm>
            <a:off x="533400" y="1333500"/>
            <a:ext cx="10541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Vectara Hallucination Leaderboard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의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2026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년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3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월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20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일 스냅샷은 최신 프런티어 모델도 여전히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hallucination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을 낸다는 점을 보여준다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2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E45BD2B-0059-1DEF-0811-D1229356CDB4}"/>
              </a:ext>
            </a:extLst>
          </p:cNvPr>
          <p:cNvSpPr/>
          <p:nvPr/>
        </p:nvSpPr>
        <p:spPr>
          <a:xfrm>
            <a:off x="533400" y="1955800"/>
            <a:ext cx="54864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981966-50D7-B805-96CB-B28C0258814A}"/>
              </a:ext>
            </a:extLst>
          </p:cNvPr>
          <p:cNvCxnSpPr/>
          <p:nvPr/>
        </p:nvCxnSpPr>
        <p:spPr>
          <a:xfrm>
            <a:off x="1320800" y="4318000"/>
            <a:ext cx="4318000" cy="0"/>
          </a:xfrm>
          <a:prstGeom prst="line">
            <a:avLst/>
          </a:prstGeom>
          <a:ln w="10160" cap="flat" cmpd="sng" algn="ctr">
            <a:solidFill>
              <a:srgbClr val="E2E8F0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494416-EAED-3F70-8C63-82625F4417E1}"/>
              </a:ext>
            </a:extLst>
          </p:cNvPr>
          <p:cNvSpPr txBox="1"/>
          <p:nvPr/>
        </p:nvSpPr>
        <p:spPr>
          <a:xfrm>
            <a:off x="660400" y="4229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00">
                <a:solidFill>
                  <a:srgbClr val="475569"/>
                </a:solidFill>
                <a:latin typeface="Pretendard" panose="02000503000000020004" pitchFamily="50" charset="-127"/>
              </a:rPr>
              <a:t>20%</a:t>
            </a:r>
            <a:endParaRPr lang="ko-KR" altLang="en-US" sz="8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CDE6AD5-6C7C-271A-E6DD-E550A30A3F9B}"/>
              </a:ext>
            </a:extLst>
          </p:cNvPr>
          <p:cNvCxnSpPr/>
          <p:nvPr/>
        </p:nvCxnSpPr>
        <p:spPr>
          <a:xfrm>
            <a:off x="1320800" y="3879850"/>
            <a:ext cx="4318000" cy="0"/>
          </a:xfrm>
          <a:prstGeom prst="line">
            <a:avLst/>
          </a:prstGeom>
          <a:ln w="10160" cap="flat" cmpd="sng" algn="ctr">
            <a:solidFill>
              <a:srgbClr val="E2E8F0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385342B-904E-36ED-6275-8F66F8679A27}"/>
              </a:ext>
            </a:extLst>
          </p:cNvPr>
          <p:cNvSpPr txBox="1"/>
          <p:nvPr/>
        </p:nvSpPr>
        <p:spPr>
          <a:xfrm>
            <a:off x="660400" y="379095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00">
                <a:solidFill>
                  <a:srgbClr val="475569"/>
                </a:solidFill>
                <a:latin typeface="Pretendard" panose="02000503000000020004" pitchFamily="50" charset="-127"/>
              </a:rPr>
              <a:t>15%</a:t>
            </a:r>
            <a:endParaRPr lang="ko-KR" altLang="en-US" sz="8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3F71818-7FA1-45C0-029B-0DA61438B80A}"/>
              </a:ext>
            </a:extLst>
          </p:cNvPr>
          <p:cNvCxnSpPr/>
          <p:nvPr/>
        </p:nvCxnSpPr>
        <p:spPr>
          <a:xfrm>
            <a:off x="1320800" y="3441700"/>
            <a:ext cx="4318000" cy="0"/>
          </a:xfrm>
          <a:prstGeom prst="line">
            <a:avLst/>
          </a:prstGeom>
          <a:ln w="10160" cap="flat" cmpd="sng" algn="ctr">
            <a:solidFill>
              <a:srgbClr val="E2E8F0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242089F-52EE-150F-5AAA-1EECFEA101F8}"/>
              </a:ext>
            </a:extLst>
          </p:cNvPr>
          <p:cNvSpPr txBox="1"/>
          <p:nvPr/>
        </p:nvSpPr>
        <p:spPr>
          <a:xfrm>
            <a:off x="660400" y="3352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00">
                <a:solidFill>
                  <a:srgbClr val="475569"/>
                </a:solidFill>
                <a:latin typeface="Pretendard" panose="02000503000000020004" pitchFamily="50" charset="-127"/>
              </a:rPr>
              <a:t>10%</a:t>
            </a:r>
            <a:endParaRPr lang="ko-KR" altLang="en-US" sz="8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CF868E8-785A-4E84-C13B-077B549F1BC3}"/>
              </a:ext>
            </a:extLst>
          </p:cNvPr>
          <p:cNvCxnSpPr/>
          <p:nvPr/>
        </p:nvCxnSpPr>
        <p:spPr>
          <a:xfrm>
            <a:off x="1320800" y="3003550"/>
            <a:ext cx="4318000" cy="0"/>
          </a:xfrm>
          <a:prstGeom prst="line">
            <a:avLst/>
          </a:prstGeom>
          <a:ln w="10160" cap="flat" cmpd="sng" algn="ctr">
            <a:solidFill>
              <a:srgbClr val="E2E8F0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D2BC9A-EB15-F45B-3162-FE52D46A18D4}"/>
              </a:ext>
            </a:extLst>
          </p:cNvPr>
          <p:cNvSpPr txBox="1"/>
          <p:nvPr/>
        </p:nvSpPr>
        <p:spPr>
          <a:xfrm>
            <a:off x="660400" y="291465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00">
                <a:solidFill>
                  <a:srgbClr val="475569"/>
                </a:solidFill>
                <a:latin typeface="Pretendard" panose="02000503000000020004" pitchFamily="50" charset="-127"/>
              </a:rPr>
              <a:t>5%</a:t>
            </a:r>
            <a:endParaRPr lang="ko-KR" altLang="en-US" sz="8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140C4B4-5E84-27E6-AAAD-AAFE2F3551D6}"/>
              </a:ext>
            </a:extLst>
          </p:cNvPr>
          <p:cNvCxnSpPr/>
          <p:nvPr/>
        </p:nvCxnSpPr>
        <p:spPr>
          <a:xfrm>
            <a:off x="1320800" y="2565400"/>
            <a:ext cx="4318000" cy="0"/>
          </a:xfrm>
          <a:prstGeom prst="line">
            <a:avLst/>
          </a:prstGeom>
          <a:ln w="10160" cap="flat" cmpd="sng" algn="ctr">
            <a:solidFill>
              <a:srgbClr val="E2E8F0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A67324-6F66-B4F6-FE34-4F7E5468D49E}"/>
              </a:ext>
            </a:extLst>
          </p:cNvPr>
          <p:cNvSpPr txBox="1"/>
          <p:nvPr/>
        </p:nvSpPr>
        <p:spPr>
          <a:xfrm>
            <a:off x="660400" y="24765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00">
                <a:solidFill>
                  <a:srgbClr val="475569"/>
                </a:solidFill>
                <a:latin typeface="Pretendard" panose="02000503000000020004" pitchFamily="50" charset="-127"/>
              </a:rPr>
              <a:t>0%</a:t>
            </a:r>
            <a:endParaRPr lang="ko-KR" altLang="en-US" sz="8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A5F40B-64BF-7E84-2A37-5E8438310901}"/>
              </a:ext>
            </a:extLst>
          </p:cNvPr>
          <p:cNvSpPr/>
          <p:nvPr/>
        </p:nvSpPr>
        <p:spPr>
          <a:xfrm>
            <a:off x="1562100" y="3704590"/>
            <a:ext cx="596900" cy="61341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3BAF00-F200-1CBE-4F74-12CA7FE1929E}"/>
              </a:ext>
            </a:extLst>
          </p:cNvPr>
          <p:cNvSpPr txBox="1"/>
          <p:nvPr/>
        </p:nvSpPr>
        <p:spPr>
          <a:xfrm>
            <a:off x="1435100" y="342519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7.0%</a:t>
            </a:r>
            <a:endParaRPr lang="ko-KR" altLang="en-US" sz="10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107CF8-05DC-ED50-35CC-F6FDA890EF50}"/>
              </a:ext>
            </a:extLst>
          </p:cNvPr>
          <p:cNvSpPr txBox="1"/>
          <p:nvPr/>
        </p:nvSpPr>
        <p:spPr>
          <a:xfrm>
            <a:off x="1244600" y="4419600"/>
            <a:ext cx="1231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>
                <a:solidFill>
                  <a:srgbClr val="475569"/>
                </a:solidFill>
                <a:latin typeface="Pretendard" panose="02000503000000020004" pitchFamily="50" charset="-127"/>
              </a:rPr>
              <a:t>GPT-5.4</a:t>
            </a:r>
            <a:endParaRPr lang="ko-KR" altLang="en-US" sz="9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8E5A9DA-FEA6-D1BA-95FB-C5014C94D505}"/>
              </a:ext>
            </a:extLst>
          </p:cNvPr>
          <p:cNvSpPr/>
          <p:nvPr/>
        </p:nvSpPr>
        <p:spPr>
          <a:xfrm>
            <a:off x="2641600" y="3704590"/>
            <a:ext cx="596900" cy="613410"/>
          </a:xfrm>
          <a:prstGeom prst="round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6496EF-EE1E-75F7-AA80-B517CBEAD921}"/>
              </a:ext>
            </a:extLst>
          </p:cNvPr>
          <p:cNvSpPr txBox="1"/>
          <p:nvPr/>
        </p:nvSpPr>
        <p:spPr>
          <a:xfrm>
            <a:off x="2514600" y="342519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7.0%</a:t>
            </a:r>
            <a:endParaRPr lang="ko-KR" altLang="en-US" sz="10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F83D05-CA08-377B-A751-BD0E23ED8379}"/>
              </a:ext>
            </a:extLst>
          </p:cNvPr>
          <p:cNvSpPr txBox="1"/>
          <p:nvPr/>
        </p:nvSpPr>
        <p:spPr>
          <a:xfrm>
            <a:off x="2324100" y="4419600"/>
            <a:ext cx="12319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>
                <a:solidFill>
                  <a:srgbClr val="475569"/>
                </a:solidFill>
                <a:latin typeface="Pretendard" panose="02000503000000020004" pitchFamily="50" charset="-127"/>
              </a:rPr>
              <a:t>Gemini 2.5 Pro</a:t>
            </a:r>
            <a:endParaRPr lang="ko-KR" altLang="en-US" sz="9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5D09B0A-99F5-6F53-8CE8-3437C7C2C660}"/>
              </a:ext>
            </a:extLst>
          </p:cNvPr>
          <p:cNvSpPr/>
          <p:nvPr/>
        </p:nvSpPr>
        <p:spPr>
          <a:xfrm>
            <a:off x="3721100" y="3389122"/>
            <a:ext cx="596900" cy="928878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17A217-AE55-F4F3-26BF-3EABA93D601F}"/>
              </a:ext>
            </a:extLst>
          </p:cNvPr>
          <p:cNvSpPr txBox="1"/>
          <p:nvPr/>
        </p:nvSpPr>
        <p:spPr>
          <a:xfrm>
            <a:off x="3594100" y="3109722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10.6%</a:t>
            </a:r>
            <a:endParaRPr lang="ko-KR" altLang="en-US" sz="10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37C936-030A-A25F-C645-660DB49A4055}"/>
              </a:ext>
            </a:extLst>
          </p:cNvPr>
          <p:cNvSpPr txBox="1"/>
          <p:nvPr/>
        </p:nvSpPr>
        <p:spPr>
          <a:xfrm>
            <a:off x="3403600" y="4419600"/>
            <a:ext cx="12319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>
                <a:solidFill>
                  <a:srgbClr val="475569"/>
                </a:solidFill>
                <a:latin typeface="Pretendard" panose="02000503000000020004" pitchFamily="50" charset="-127"/>
              </a:rPr>
              <a:t>Claude Sonnet 4.6</a:t>
            </a:r>
            <a:endParaRPr lang="ko-KR" altLang="en-US" sz="9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E4483AB-5606-7362-7BA4-AFCA0C03C5C9}"/>
              </a:ext>
            </a:extLst>
          </p:cNvPr>
          <p:cNvSpPr/>
          <p:nvPr/>
        </p:nvSpPr>
        <p:spPr>
          <a:xfrm>
            <a:off x="4800600" y="2758186"/>
            <a:ext cx="596900" cy="1559814"/>
          </a:xfrm>
          <a:prstGeom prst="round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B9326-3D13-F684-07FC-09BF22039148}"/>
              </a:ext>
            </a:extLst>
          </p:cNvPr>
          <p:cNvSpPr txBox="1"/>
          <p:nvPr/>
        </p:nvSpPr>
        <p:spPr>
          <a:xfrm>
            <a:off x="4673600" y="2478786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17.8%</a:t>
            </a:r>
            <a:endParaRPr lang="ko-KR" altLang="en-US" sz="10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4454B2-C198-49F6-0570-A82E5917A452}"/>
              </a:ext>
            </a:extLst>
          </p:cNvPr>
          <p:cNvSpPr txBox="1"/>
          <p:nvPr/>
        </p:nvSpPr>
        <p:spPr>
          <a:xfrm>
            <a:off x="4483100" y="4419600"/>
            <a:ext cx="12319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>
                <a:solidFill>
                  <a:srgbClr val="475569"/>
                </a:solidFill>
                <a:latin typeface="Pretendard" panose="02000503000000020004" pitchFamily="50" charset="-127"/>
              </a:rPr>
              <a:t>Grok 4.1 Fast</a:t>
            </a:r>
            <a:endParaRPr lang="ko-KR" altLang="en-US" sz="9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6C247A4-143E-5FCE-0CC7-BCFBD4FBF16D}"/>
              </a:ext>
            </a:extLst>
          </p:cNvPr>
          <p:cNvSpPr/>
          <p:nvPr/>
        </p:nvSpPr>
        <p:spPr>
          <a:xfrm>
            <a:off x="6375400" y="1955800"/>
            <a:ext cx="53086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128BC1-68CD-24F7-23BE-EBB1BCB8D270}"/>
              </a:ext>
            </a:extLst>
          </p:cNvPr>
          <p:cNvSpPr txBox="1"/>
          <p:nvPr/>
        </p:nvSpPr>
        <p:spPr>
          <a:xfrm>
            <a:off x="6629400" y="2184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20" b="1">
                <a:solidFill>
                  <a:srgbClr val="475569"/>
                </a:solidFill>
                <a:latin typeface="Pretendard" panose="02000503000000020004" pitchFamily="50" charset="-127"/>
              </a:rPr>
              <a:t>모델별 수치 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FD991F-DFDE-E7BC-809D-275C70A1D4E4}"/>
              </a:ext>
            </a:extLst>
          </p:cNvPr>
          <p:cNvSpPr txBox="1"/>
          <p:nvPr/>
        </p:nvSpPr>
        <p:spPr>
          <a:xfrm>
            <a:off x="6629400" y="2463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0F172A"/>
                </a:solidFill>
                <a:latin typeface="Pretendard" panose="02000503000000020004" pitchFamily="50" charset="-127"/>
              </a:rPr>
              <a:t>rate</a:t>
            </a:r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와 상대 위치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85FE22-B93D-8EEF-2126-0077A3FFB821}"/>
              </a:ext>
            </a:extLst>
          </p:cNvPr>
          <p:cNvSpPr/>
          <p:nvPr/>
        </p:nvSpPr>
        <p:spPr>
          <a:xfrm>
            <a:off x="6629400" y="2870200"/>
            <a:ext cx="4800600" cy="5588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67786CF-659C-80B7-F3E9-8C5BF50A3ADD}"/>
              </a:ext>
            </a:extLst>
          </p:cNvPr>
          <p:cNvSpPr/>
          <p:nvPr/>
        </p:nvSpPr>
        <p:spPr>
          <a:xfrm>
            <a:off x="6781800" y="2984500"/>
            <a:ext cx="787400" cy="3048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0F17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38C8DC-0E4D-9848-E958-1BBB7714BDD1}"/>
              </a:ext>
            </a:extLst>
          </p:cNvPr>
          <p:cNvSpPr txBox="1"/>
          <p:nvPr/>
        </p:nvSpPr>
        <p:spPr>
          <a:xfrm>
            <a:off x="6781800" y="3035300"/>
            <a:ext cx="787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Pretendard" panose="02000503000000020004" pitchFamily="50" charset="-127"/>
              </a:rPr>
              <a:t>System.__ComObject</a:t>
            </a:r>
            <a:endParaRPr lang="ko-KR" altLang="en-US" sz="850" b="1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CA1139-90FF-9F10-9F47-00294BDB41A1}"/>
              </a:ext>
            </a:extLst>
          </p:cNvPr>
          <p:cNvSpPr txBox="1"/>
          <p:nvPr/>
        </p:nvSpPr>
        <p:spPr>
          <a:xfrm>
            <a:off x="7721600" y="30353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20" b="1">
                <a:solidFill>
                  <a:srgbClr val="0F172A"/>
                </a:solidFill>
                <a:latin typeface="Pretendard" panose="02000503000000020004" pitchFamily="50" charset="-127"/>
              </a:rPr>
              <a:t>GPT-5.4</a:t>
            </a:r>
            <a:endParaRPr lang="ko-KR" altLang="en-US" sz="102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A36623-6014-BB58-DB57-DEA4171FD0C5}"/>
              </a:ext>
            </a:extLst>
          </p:cNvPr>
          <p:cNvSpPr txBox="1"/>
          <p:nvPr/>
        </p:nvSpPr>
        <p:spPr>
          <a:xfrm>
            <a:off x="9931400" y="30353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7.0%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5069E98-11EA-0264-4634-6E9C6C896048}"/>
              </a:ext>
            </a:extLst>
          </p:cNvPr>
          <p:cNvSpPr/>
          <p:nvPr/>
        </p:nvSpPr>
        <p:spPr>
          <a:xfrm>
            <a:off x="10820400" y="3086100"/>
            <a:ext cx="1397000" cy="127000"/>
          </a:xfrm>
          <a:prstGeom prst="roundRect">
            <a:avLst/>
          </a:prstGeom>
          <a:solidFill>
            <a:srgbClr val="F1F5F9"/>
          </a:solidFill>
          <a:ln w="12700" cap="flat" cmpd="sng" algn="ctr">
            <a:solidFill>
              <a:srgbClr val="F1F5F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EDA370D-19E4-513C-E3D9-E30EC606DD9A}"/>
              </a:ext>
            </a:extLst>
          </p:cNvPr>
          <p:cNvSpPr/>
          <p:nvPr/>
        </p:nvSpPr>
        <p:spPr>
          <a:xfrm>
            <a:off x="10820400" y="3086100"/>
            <a:ext cx="488950" cy="127000"/>
          </a:xfrm>
          <a:prstGeom prst="roundRect">
            <a:avLst/>
          </a:prstGeom>
          <a:solidFill>
            <a:srgbClr val="0F172A"/>
          </a:solidFill>
          <a:ln w="12700" cap="flat" cmpd="sng" algn="ctr">
            <a:solidFill>
              <a:srgbClr val="0F17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B9CCFB3-555C-AD6A-5CC9-7EF897B0AA4A}"/>
              </a:ext>
            </a:extLst>
          </p:cNvPr>
          <p:cNvSpPr/>
          <p:nvPr/>
        </p:nvSpPr>
        <p:spPr>
          <a:xfrm>
            <a:off x="6629400" y="3505200"/>
            <a:ext cx="4800600" cy="5588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2D3BD99-84E3-9451-5BF7-37082F391786}"/>
              </a:ext>
            </a:extLst>
          </p:cNvPr>
          <p:cNvSpPr/>
          <p:nvPr/>
        </p:nvSpPr>
        <p:spPr>
          <a:xfrm>
            <a:off x="6781800" y="3619500"/>
            <a:ext cx="787400" cy="304800"/>
          </a:xfrm>
          <a:prstGeom prst="roundRect">
            <a:avLst/>
          </a:prstGeom>
          <a:solidFill>
            <a:srgbClr val="14B8A6"/>
          </a:solidFill>
          <a:ln w="12700" cap="flat" cmpd="sng" algn="ctr">
            <a:solidFill>
              <a:srgbClr val="14B8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C81354-862E-8394-2800-5C5D5BA97AA0}"/>
              </a:ext>
            </a:extLst>
          </p:cNvPr>
          <p:cNvSpPr txBox="1"/>
          <p:nvPr/>
        </p:nvSpPr>
        <p:spPr>
          <a:xfrm>
            <a:off x="6781800" y="3670300"/>
            <a:ext cx="787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Pretendard" panose="02000503000000020004" pitchFamily="50" charset="-127"/>
              </a:rPr>
              <a:t>System.__ComObject</a:t>
            </a:r>
            <a:endParaRPr lang="ko-KR" altLang="en-US" sz="850" b="1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CB1C6F-FFA1-2627-2921-404AE1A911FB}"/>
              </a:ext>
            </a:extLst>
          </p:cNvPr>
          <p:cNvSpPr txBox="1"/>
          <p:nvPr/>
        </p:nvSpPr>
        <p:spPr>
          <a:xfrm>
            <a:off x="7721600" y="36703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20" b="1">
                <a:solidFill>
                  <a:srgbClr val="0F172A"/>
                </a:solidFill>
                <a:latin typeface="Pretendard" panose="02000503000000020004" pitchFamily="50" charset="-127"/>
              </a:rPr>
              <a:t>Gemini 2.5 Pro</a:t>
            </a:r>
            <a:endParaRPr lang="ko-KR" altLang="en-US" sz="102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E82202-5733-4482-F918-8ABC3D24D53F}"/>
              </a:ext>
            </a:extLst>
          </p:cNvPr>
          <p:cNvSpPr txBox="1"/>
          <p:nvPr/>
        </p:nvSpPr>
        <p:spPr>
          <a:xfrm>
            <a:off x="9931400" y="36703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7.0%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E1D9B54-4392-BA25-2E92-0A94C62ED053}"/>
              </a:ext>
            </a:extLst>
          </p:cNvPr>
          <p:cNvSpPr/>
          <p:nvPr/>
        </p:nvSpPr>
        <p:spPr>
          <a:xfrm>
            <a:off x="10820400" y="3721100"/>
            <a:ext cx="1397000" cy="127000"/>
          </a:xfrm>
          <a:prstGeom prst="roundRect">
            <a:avLst/>
          </a:prstGeom>
          <a:solidFill>
            <a:srgbClr val="F1F5F9"/>
          </a:solidFill>
          <a:ln w="12700" cap="flat" cmpd="sng" algn="ctr">
            <a:solidFill>
              <a:srgbClr val="F1F5F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92B2039-F920-EE45-B21A-08645D0838AB}"/>
              </a:ext>
            </a:extLst>
          </p:cNvPr>
          <p:cNvSpPr/>
          <p:nvPr/>
        </p:nvSpPr>
        <p:spPr>
          <a:xfrm>
            <a:off x="10820400" y="3721100"/>
            <a:ext cx="488950" cy="127000"/>
          </a:xfrm>
          <a:prstGeom prst="roundRect">
            <a:avLst/>
          </a:prstGeom>
          <a:solidFill>
            <a:srgbClr val="14B8A6"/>
          </a:solidFill>
          <a:ln w="12700" cap="flat" cmpd="sng" algn="ctr">
            <a:solidFill>
              <a:srgbClr val="14B8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CE98EB1-727A-394E-6748-6342BA1EAEB2}"/>
              </a:ext>
            </a:extLst>
          </p:cNvPr>
          <p:cNvSpPr/>
          <p:nvPr/>
        </p:nvSpPr>
        <p:spPr>
          <a:xfrm>
            <a:off x="6629400" y="4140200"/>
            <a:ext cx="4800600" cy="5588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FFC4D00-AA30-7CDC-0145-9DB605DBCF3F}"/>
              </a:ext>
            </a:extLst>
          </p:cNvPr>
          <p:cNvSpPr/>
          <p:nvPr/>
        </p:nvSpPr>
        <p:spPr>
          <a:xfrm>
            <a:off x="6781800" y="4254500"/>
            <a:ext cx="787400" cy="304800"/>
          </a:xfrm>
          <a:prstGeom prst="roundRect">
            <a:avLst/>
          </a:prstGeom>
          <a:solidFill>
            <a:srgbClr val="7C3AED"/>
          </a:solidFill>
          <a:ln w="12700" cap="flat" cmpd="sng" algn="ctr">
            <a:solidFill>
              <a:srgbClr val="7C3AE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02930E-17B3-CF17-094C-2B46EB962C14}"/>
              </a:ext>
            </a:extLst>
          </p:cNvPr>
          <p:cNvSpPr txBox="1"/>
          <p:nvPr/>
        </p:nvSpPr>
        <p:spPr>
          <a:xfrm>
            <a:off x="6781800" y="4305300"/>
            <a:ext cx="787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Pretendard" panose="02000503000000020004" pitchFamily="50" charset="-127"/>
              </a:rPr>
              <a:t>System.__ComObject</a:t>
            </a:r>
            <a:endParaRPr lang="ko-KR" altLang="en-US" sz="850" b="1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7BB56-EED3-D036-B04C-5AF41B129A55}"/>
              </a:ext>
            </a:extLst>
          </p:cNvPr>
          <p:cNvSpPr txBox="1"/>
          <p:nvPr/>
        </p:nvSpPr>
        <p:spPr>
          <a:xfrm>
            <a:off x="7721600" y="43053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20" b="1">
                <a:solidFill>
                  <a:srgbClr val="0F172A"/>
                </a:solidFill>
                <a:latin typeface="Pretendard" panose="02000503000000020004" pitchFamily="50" charset="-127"/>
              </a:rPr>
              <a:t>Claude Sonnet 4.6</a:t>
            </a:r>
            <a:endParaRPr lang="ko-KR" altLang="en-US" sz="102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D2EAEB-C8B7-22E0-C85E-608E18DFB54E}"/>
              </a:ext>
            </a:extLst>
          </p:cNvPr>
          <p:cNvSpPr txBox="1"/>
          <p:nvPr/>
        </p:nvSpPr>
        <p:spPr>
          <a:xfrm>
            <a:off x="9931400" y="43053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10.6%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232954C-A110-1A63-18DC-69AA48CE8DBA}"/>
              </a:ext>
            </a:extLst>
          </p:cNvPr>
          <p:cNvSpPr/>
          <p:nvPr/>
        </p:nvSpPr>
        <p:spPr>
          <a:xfrm>
            <a:off x="10820400" y="4356100"/>
            <a:ext cx="1397000" cy="127000"/>
          </a:xfrm>
          <a:prstGeom prst="roundRect">
            <a:avLst/>
          </a:prstGeom>
          <a:solidFill>
            <a:srgbClr val="F1F5F9"/>
          </a:solidFill>
          <a:ln w="12700" cap="flat" cmpd="sng" algn="ctr">
            <a:solidFill>
              <a:srgbClr val="F1F5F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D4DCF0A-C3EC-3912-4913-769DD055E1D5}"/>
              </a:ext>
            </a:extLst>
          </p:cNvPr>
          <p:cNvSpPr/>
          <p:nvPr/>
        </p:nvSpPr>
        <p:spPr>
          <a:xfrm>
            <a:off x="10820400" y="4356100"/>
            <a:ext cx="740410" cy="127000"/>
          </a:xfrm>
          <a:prstGeom prst="roundRect">
            <a:avLst/>
          </a:prstGeom>
          <a:solidFill>
            <a:srgbClr val="7C3AED"/>
          </a:solidFill>
          <a:ln w="12700" cap="flat" cmpd="sng" algn="ctr">
            <a:solidFill>
              <a:srgbClr val="7C3AE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4EAA9F0-F93B-09EE-A1B1-D871F8A6ABDE}"/>
              </a:ext>
            </a:extLst>
          </p:cNvPr>
          <p:cNvSpPr/>
          <p:nvPr/>
        </p:nvSpPr>
        <p:spPr>
          <a:xfrm>
            <a:off x="6629400" y="4775200"/>
            <a:ext cx="4800600" cy="5588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567AD79-744D-DF0E-A685-11EB5378B8EC}"/>
              </a:ext>
            </a:extLst>
          </p:cNvPr>
          <p:cNvSpPr/>
          <p:nvPr/>
        </p:nvSpPr>
        <p:spPr>
          <a:xfrm>
            <a:off x="6781800" y="4889500"/>
            <a:ext cx="787400" cy="304800"/>
          </a:xfrm>
          <a:prstGeom prst="roundRect">
            <a:avLst/>
          </a:prstGeom>
          <a:solidFill>
            <a:srgbClr val="F59E0B"/>
          </a:solidFill>
          <a:ln w="12700" cap="flat" cmpd="sng" algn="ctr">
            <a:solidFill>
              <a:srgbClr val="F59E0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C86024-E4C8-94E6-972A-26649986E1CE}"/>
              </a:ext>
            </a:extLst>
          </p:cNvPr>
          <p:cNvSpPr txBox="1"/>
          <p:nvPr/>
        </p:nvSpPr>
        <p:spPr>
          <a:xfrm>
            <a:off x="6781800" y="4940300"/>
            <a:ext cx="787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Pretendard" panose="02000503000000020004" pitchFamily="50" charset="-127"/>
              </a:rPr>
              <a:t>System.__ComObject</a:t>
            </a:r>
            <a:endParaRPr lang="ko-KR" altLang="en-US" sz="850" b="1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EA484E-EE0E-E9E9-1D02-9EF5CEBABFE2}"/>
              </a:ext>
            </a:extLst>
          </p:cNvPr>
          <p:cNvSpPr txBox="1"/>
          <p:nvPr/>
        </p:nvSpPr>
        <p:spPr>
          <a:xfrm>
            <a:off x="7721600" y="49403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20" b="1">
                <a:solidFill>
                  <a:srgbClr val="0F172A"/>
                </a:solidFill>
                <a:latin typeface="Pretendard" panose="02000503000000020004" pitchFamily="50" charset="-127"/>
              </a:rPr>
              <a:t>Grok 4.1 Fast</a:t>
            </a:r>
            <a:endParaRPr lang="ko-KR" altLang="en-US" sz="102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4C6DF7-BB8C-E8E7-175F-6EAABFACC3C7}"/>
              </a:ext>
            </a:extLst>
          </p:cNvPr>
          <p:cNvSpPr txBox="1"/>
          <p:nvPr/>
        </p:nvSpPr>
        <p:spPr>
          <a:xfrm>
            <a:off x="9931400" y="49403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17.8%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0177FB2B-7448-3A5D-A5DE-CD91251837F5}"/>
              </a:ext>
            </a:extLst>
          </p:cNvPr>
          <p:cNvSpPr/>
          <p:nvPr/>
        </p:nvSpPr>
        <p:spPr>
          <a:xfrm>
            <a:off x="10820400" y="4991100"/>
            <a:ext cx="1397000" cy="127000"/>
          </a:xfrm>
          <a:prstGeom prst="roundRect">
            <a:avLst/>
          </a:prstGeom>
          <a:solidFill>
            <a:srgbClr val="F1F5F9"/>
          </a:solidFill>
          <a:ln w="12700" cap="flat" cmpd="sng" algn="ctr">
            <a:solidFill>
              <a:srgbClr val="F1F5F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69068B1-8B14-2D64-FAC8-5278BE1F350A}"/>
              </a:ext>
            </a:extLst>
          </p:cNvPr>
          <p:cNvSpPr/>
          <p:nvPr/>
        </p:nvSpPr>
        <p:spPr>
          <a:xfrm>
            <a:off x="10820400" y="4991100"/>
            <a:ext cx="1243330" cy="127000"/>
          </a:xfrm>
          <a:prstGeom prst="roundRect">
            <a:avLst/>
          </a:prstGeom>
          <a:solidFill>
            <a:srgbClr val="F59E0B"/>
          </a:solidFill>
          <a:ln w="12700" cap="flat" cmpd="sng" algn="ctr">
            <a:solidFill>
              <a:srgbClr val="F59E0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C5B286A-4711-FD28-DF7B-DC9A06780CB6}"/>
              </a:ext>
            </a:extLst>
          </p:cNvPr>
          <p:cNvSpPr/>
          <p:nvPr/>
        </p:nvSpPr>
        <p:spPr>
          <a:xfrm>
            <a:off x="533400" y="5435600"/>
            <a:ext cx="11150600" cy="5842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541C1C-D48F-F6E3-A36F-3EACE207E262}"/>
              </a:ext>
            </a:extLst>
          </p:cNvPr>
          <p:cNvSpPr txBox="1"/>
          <p:nvPr/>
        </p:nvSpPr>
        <p:spPr>
          <a:xfrm>
            <a:off x="762000" y="5588000"/>
            <a:ext cx="10693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같은 최신 세대 모델 사이에서도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rate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차이가 있고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가장 낮은 수치 역시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0%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와는 거리가 남아 있다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따라서 최신 모델 하나만 믿는 구조는 충분하지 않다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95E206-2DFD-8B0C-07D9-B3890A4BDBC2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Vectara Hallucination Leaderboard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9C262A-85A0-B458-F969-51DEFF384A96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04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44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7A4BDB33-48C4-9624-7009-BBD2ADC99DD7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B43D2C4-94C6-E4F7-6978-90F73218AD63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4991D5B-3316-5AE5-D147-3D66439A9972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DBCF2D0-DF10-6367-1C97-54E774B8BF07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510D7-A2F7-F47A-77DF-46AB9ECBAF6A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근거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2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79B95-D700-7348-C970-DCAC2A301BAB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05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81E1726-01A6-9B60-4339-9E3D76C0B5E7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361157-AE3C-FCCB-7471-EC52F5B6227F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낮은 빈도라도 영향이 크면 환각은 위험하다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5C06E-8041-DDB3-B2EE-4781C3D62A89}"/>
              </a:ext>
            </a:extLst>
          </p:cNvPr>
          <p:cNvSpPr txBox="1"/>
          <p:nvPr/>
        </p:nvSpPr>
        <p:spPr>
          <a:xfrm>
            <a:off x="533400" y="1333500"/>
            <a:ext cx="10541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의료 요약 분야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2025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년 연구는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hallucination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과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omission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이 존재하며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그중 일부는 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major </a:t>
            </a:r>
            <a:r>
              <a:rPr lang="ko-KR" altLang="en-US" sz="1250">
                <a:solidFill>
                  <a:srgbClr val="475569"/>
                </a:solidFill>
                <a:latin typeface="Pretendard" panose="02000503000000020004" pitchFamily="50" charset="-127"/>
              </a:rPr>
              <a:t>오류가 될 수 있음을 보여준다</a:t>
            </a:r>
            <a:r>
              <a:rPr lang="en-US" altLang="ko-KR" sz="125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2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F08E60-D0B4-2F20-5BDB-56D381608444}"/>
              </a:ext>
            </a:extLst>
          </p:cNvPr>
          <p:cNvSpPr/>
          <p:nvPr/>
        </p:nvSpPr>
        <p:spPr>
          <a:xfrm>
            <a:off x="533400" y="1955800"/>
            <a:ext cx="5308600" cy="314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C4504C-AE87-EE36-E286-A7C4EA597739}"/>
              </a:ext>
            </a:extLst>
          </p:cNvPr>
          <p:cNvSpPr txBox="1"/>
          <p:nvPr/>
        </p:nvSpPr>
        <p:spPr>
          <a:xfrm>
            <a:off x="736600" y="2159000"/>
            <a:ext cx="490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문장 단위 오류율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9FED4-2109-5D11-327B-8AF59FF3CEA6}"/>
              </a:ext>
            </a:extLst>
          </p:cNvPr>
          <p:cNvSpPr txBox="1"/>
          <p:nvPr/>
        </p:nvSpPr>
        <p:spPr>
          <a:xfrm>
            <a:off x="736600" y="2413000"/>
            <a:ext cx="4902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수치가 낮아 보여도 고위험 영역에서는 무시할 수 없다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F28922-892B-747C-8565-A7DFA3230E9A}"/>
              </a:ext>
            </a:extLst>
          </p:cNvPr>
          <p:cNvSpPr txBox="1"/>
          <p:nvPr/>
        </p:nvSpPr>
        <p:spPr>
          <a:xfrm>
            <a:off x="736600" y="2971800"/>
            <a:ext cx="4902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>
                <a:solidFill>
                  <a:srgbClr val="475569"/>
                </a:solidFill>
                <a:latin typeface="Pretendard" panose="02000503000000020004" pitchFamily="50" charset="-127"/>
              </a:rPr>
              <a:t>환각 </a:t>
            </a:r>
            <a:r>
              <a:rPr lang="en-US" altLang="ko-KR" sz="1100">
                <a:solidFill>
                  <a:srgbClr val="475569"/>
                </a:solidFill>
                <a:latin typeface="Pretendard" panose="02000503000000020004" pitchFamily="50" charset="-127"/>
              </a:rPr>
              <a:t>1.47%, </a:t>
            </a:r>
            <a:r>
              <a:rPr lang="ko-KR" altLang="en-US" sz="1100">
                <a:solidFill>
                  <a:srgbClr val="475569"/>
                </a:solidFill>
                <a:latin typeface="Pretendard" panose="02000503000000020004" pitchFamily="50" charset="-127"/>
              </a:rPr>
              <a:t>생략 </a:t>
            </a:r>
            <a:r>
              <a:rPr lang="en-US" altLang="ko-KR" sz="1100">
                <a:solidFill>
                  <a:srgbClr val="475569"/>
                </a:solidFill>
                <a:latin typeface="Pretendard" panose="02000503000000020004" pitchFamily="50" charset="-127"/>
              </a:rPr>
              <a:t>3.45%</a:t>
            </a:r>
            <a:r>
              <a:rPr lang="ko-KR" altLang="en-US" sz="1100">
                <a:solidFill>
                  <a:srgbClr val="475569"/>
                </a:solidFill>
                <a:latin typeface="Pretendard" panose="02000503000000020004" pitchFamily="50" charset="-127"/>
              </a:rPr>
              <a:t>라는 수치는 작아 보일 수 있다</a:t>
            </a:r>
            <a:r>
              <a:rPr lang="en-US" altLang="ko-KR" sz="1100">
                <a:solidFill>
                  <a:srgbClr val="475569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00">
                <a:solidFill>
                  <a:srgbClr val="475569"/>
                </a:solidFill>
                <a:latin typeface="Pretendard" panose="02000503000000020004" pitchFamily="50" charset="-127"/>
              </a:rPr>
              <a:t>그러나 정확성 비용이 큰 환경에서는 작은 비율도 중요한 리스크가 된다</a:t>
            </a:r>
            <a:r>
              <a:rPr lang="en-US" altLang="ko-KR" sz="110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0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7ECF6-76B5-01CE-1731-365FA94E9E11}"/>
              </a:ext>
            </a:extLst>
          </p:cNvPr>
          <p:cNvSpPr txBox="1"/>
          <p:nvPr/>
        </p:nvSpPr>
        <p:spPr>
          <a:xfrm>
            <a:off x="812800" y="34544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Hallucination rate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D65DE8-9413-0883-31B8-584B4B62E525}"/>
              </a:ext>
            </a:extLst>
          </p:cNvPr>
          <p:cNvSpPr txBox="1"/>
          <p:nvPr/>
        </p:nvSpPr>
        <p:spPr>
          <a:xfrm>
            <a:off x="4673600" y="34544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1.47%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F3234E7-8050-EAFE-3027-85A9601F7ADC}"/>
              </a:ext>
            </a:extLst>
          </p:cNvPr>
          <p:cNvSpPr/>
          <p:nvPr/>
        </p:nvSpPr>
        <p:spPr>
          <a:xfrm>
            <a:off x="812800" y="3733800"/>
            <a:ext cx="4749800" cy="177800"/>
          </a:xfrm>
          <a:prstGeom prst="roundRect">
            <a:avLst/>
          </a:prstGeom>
          <a:solidFill>
            <a:srgbClr val="F1F5F9"/>
          </a:solidFill>
          <a:ln w="12700" cap="flat" cmpd="sng" algn="ctr">
            <a:solidFill>
              <a:srgbClr val="F1F5F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3663954-AC37-30CE-96C2-7D4AA089B249}"/>
              </a:ext>
            </a:extLst>
          </p:cNvPr>
          <p:cNvSpPr/>
          <p:nvPr/>
        </p:nvSpPr>
        <p:spPr>
          <a:xfrm>
            <a:off x="812800" y="3733800"/>
            <a:ext cx="2023890" cy="177800"/>
          </a:xfrm>
          <a:prstGeom prst="roundRect">
            <a:avLst/>
          </a:prstGeom>
          <a:solidFill>
            <a:srgbClr val="2563EB">
              <a:alpha val="95000"/>
            </a:srgbClr>
          </a:solidFill>
          <a:ln w="127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F93314-B2FD-54ED-F5F7-1239DFD418A9}"/>
              </a:ext>
            </a:extLst>
          </p:cNvPr>
          <p:cNvSpPr txBox="1"/>
          <p:nvPr/>
        </p:nvSpPr>
        <p:spPr>
          <a:xfrm>
            <a:off x="812800" y="43180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Omission rate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6E0B56-2631-49EF-3E97-B54C34A4376A}"/>
              </a:ext>
            </a:extLst>
          </p:cNvPr>
          <p:cNvSpPr txBox="1"/>
          <p:nvPr/>
        </p:nvSpPr>
        <p:spPr>
          <a:xfrm>
            <a:off x="4673600" y="43180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050" b="1">
                <a:solidFill>
                  <a:srgbClr val="0F172A"/>
                </a:solidFill>
                <a:latin typeface="Pretendard" panose="02000503000000020004" pitchFamily="50" charset="-127"/>
              </a:rPr>
              <a:t>3.45%</a:t>
            </a:r>
            <a:endParaRPr lang="ko-KR" altLang="en-US" sz="10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E76ABEB-0C44-7C60-611B-82CC9EF14369}"/>
              </a:ext>
            </a:extLst>
          </p:cNvPr>
          <p:cNvSpPr/>
          <p:nvPr/>
        </p:nvSpPr>
        <p:spPr>
          <a:xfrm>
            <a:off x="812800" y="4597400"/>
            <a:ext cx="4749800" cy="177800"/>
          </a:xfrm>
          <a:prstGeom prst="roundRect">
            <a:avLst/>
          </a:prstGeom>
          <a:solidFill>
            <a:srgbClr val="F1F5F9"/>
          </a:solidFill>
          <a:ln w="12700" cap="flat" cmpd="sng" algn="ctr">
            <a:solidFill>
              <a:srgbClr val="F1F5F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8BD400B-C21D-E17F-96B0-A2D794B285D2}"/>
              </a:ext>
            </a:extLst>
          </p:cNvPr>
          <p:cNvSpPr/>
          <p:nvPr/>
        </p:nvSpPr>
        <p:spPr>
          <a:xfrm>
            <a:off x="812800" y="4597400"/>
            <a:ext cx="4749800" cy="177800"/>
          </a:xfrm>
          <a:prstGeom prst="roundRect">
            <a:avLst/>
          </a:prstGeom>
          <a:solidFill>
            <a:srgbClr val="14B8A6">
              <a:alpha val="95000"/>
            </a:srgbClr>
          </a:solidFill>
          <a:ln w="12700" cap="flat" cmpd="sng" algn="ctr">
            <a:solidFill>
              <a:srgbClr val="14B8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61A95DD-045D-FC26-02A6-FAAE55E244F7}"/>
              </a:ext>
            </a:extLst>
          </p:cNvPr>
          <p:cNvSpPr/>
          <p:nvPr/>
        </p:nvSpPr>
        <p:spPr>
          <a:xfrm>
            <a:off x="6299200" y="1955800"/>
            <a:ext cx="5384800" cy="314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C97784-9102-A627-6362-1BD29811530B}"/>
              </a:ext>
            </a:extLst>
          </p:cNvPr>
          <p:cNvSpPr txBox="1"/>
          <p:nvPr/>
        </p:nvSpPr>
        <p:spPr>
          <a:xfrm>
            <a:off x="6502400" y="2159000"/>
            <a:ext cx="497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Major risk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03A68D-22B0-193D-3496-4DEA2B6279A1}"/>
              </a:ext>
            </a:extLst>
          </p:cNvPr>
          <p:cNvSpPr txBox="1"/>
          <p:nvPr/>
        </p:nvSpPr>
        <p:spPr>
          <a:xfrm>
            <a:off x="6502400" y="2413000"/>
            <a:ext cx="497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환각 문장 </a:t>
            </a:r>
            <a:r>
              <a:rPr lang="en-US" altLang="ko-KR" sz="1700" b="1">
                <a:solidFill>
                  <a:srgbClr val="0F172A"/>
                </a:solidFill>
                <a:latin typeface="Pretendard" panose="02000503000000020004" pitchFamily="50" charset="-127"/>
              </a:rPr>
              <a:t>191</a:t>
            </a:r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개 중 </a:t>
            </a:r>
            <a:r>
              <a:rPr lang="en-US" altLang="ko-KR" sz="1700" b="1">
                <a:solidFill>
                  <a:srgbClr val="0F172A"/>
                </a:solidFill>
                <a:latin typeface="Pretendard" panose="02000503000000020004" pitchFamily="50" charset="-127"/>
              </a:rPr>
              <a:t>84</a:t>
            </a:r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개가 </a:t>
            </a:r>
            <a:r>
              <a:rPr lang="en-US" altLang="ko-KR" sz="1700" b="1">
                <a:solidFill>
                  <a:srgbClr val="0F172A"/>
                </a:solidFill>
                <a:latin typeface="Pretendard" panose="02000503000000020004" pitchFamily="50" charset="-127"/>
              </a:rPr>
              <a:t>major </a:t>
            </a:r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오류였다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FA13D0-C236-4EC3-A039-FC3B43750C1F}"/>
              </a:ext>
            </a:extLst>
          </p:cNvPr>
          <p:cNvSpPr txBox="1"/>
          <p:nvPr/>
        </p:nvSpPr>
        <p:spPr>
          <a:xfrm>
            <a:off x="6502400" y="2971800"/>
            <a:ext cx="4978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오류가 드물어 보여도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그 영향이 크면 시스템 위험은 충분히 심각하다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그래서 시스템은 정답 생성뿐 아니라 검토와 경고 구조를 함께 가져야 한다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611DB70-843F-497C-A2F2-4040F1DAEFF8}"/>
              </a:ext>
            </a:extLst>
          </p:cNvPr>
          <p:cNvSpPr/>
          <p:nvPr/>
        </p:nvSpPr>
        <p:spPr>
          <a:xfrm>
            <a:off x="9118600" y="2895600"/>
            <a:ext cx="1676400" cy="1676400"/>
          </a:xfrm>
          <a:prstGeom prst="ellipse">
            <a:avLst/>
          </a:prstGeom>
          <a:solidFill>
            <a:srgbClr val="FFFFFF">
              <a:alpha val="0"/>
            </a:srgbClr>
          </a:solidFill>
          <a:ln w="203200" cap="flat" cmpd="sng" algn="ctr">
            <a:solidFill>
              <a:srgbClr val="2563EB">
                <a:alpha val="9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C91AC2-7AD0-E63F-5CC8-879FBB5040D9}"/>
              </a:ext>
            </a:extLst>
          </p:cNvPr>
          <p:cNvSpPr txBox="1"/>
          <p:nvPr/>
        </p:nvSpPr>
        <p:spPr>
          <a:xfrm>
            <a:off x="9448800" y="3378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3000" b="1">
                <a:solidFill>
                  <a:srgbClr val="0F172A"/>
                </a:solidFill>
                <a:latin typeface="Pretendard" panose="02000503000000020004" pitchFamily="50" charset="-127"/>
              </a:rPr>
              <a:t>44%</a:t>
            </a:r>
            <a:endParaRPr lang="ko-KR" altLang="en-US" sz="30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9A723-142F-3DD2-A17D-5C4E81A35EB2}"/>
              </a:ext>
            </a:extLst>
          </p:cNvPr>
          <p:cNvSpPr txBox="1"/>
          <p:nvPr/>
        </p:nvSpPr>
        <p:spPr>
          <a:xfrm>
            <a:off x="9093200" y="38354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20" b="1">
                <a:solidFill>
                  <a:srgbClr val="475569"/>
                </a:solidFill>
                <a:latin typeface="Pretendard" panose="02000503000000020004" pitchFamily="50" charset="-127"/>
              </a:rPr>
              <a:t>major </a:t>
            </a:r>
            <a:r>
              <a:rPr lang="ko-KR" altLang="en-US" sz="1020" b="1">
                <a:solidFill>
                  <a:srgbClr val="475569"/>
                </a:solidFill>
                <a:latin typeface="Pretendard" panose="02000503000000020004" pitchFamily="50" charset="-127"/>
              </a:rPr>
              <a:t>오류 비중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7AD2701-FF04-1201-E066-37E1F236C586}"/>
              </a:ext>
            </a:extLst>
          </p:cNvPr>
          <p:cNvSpPr/>
          <p:nvPr/>
        </p:nvSpPr>
        <p:spPr>
          <a:xfrm>
            <a:off x="533400" y="5435600"/>
            <a:ext cx="11150600" cy="5842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8B0C8E-D6C6-05A3-CC8A-4BB5D1B190C2}"/>
              </a:ext>
            </a:extLst>
          </p:cNvPr>
          <p:cNvSpPr txBox="1"/>
          <p:nvPr/>
        </p:nvSpPr>
        <p:spPr>
          <a:xfrm>
            <a:off x="762000" y="5588000"/>
            <a:ext cx="10693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즉 환각은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드물다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는 이유만으로 무시할 수 없다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위험이 큰 영역일수록 답변을 상호검증하는 구조가 더 중요하다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DA1AAC-E0A0-AA89-B3DA-8C45455D09D6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npj Digital Medicine (2025)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CC4353-CAB8-2564-3AC1-CAD04B2A80B5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05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50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BFD1A7F2-2769-BD1F-F0FA-D77C849B972B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129B6ED-3C52-F12A-0730-328027699508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FD1844B-A2C2-1040-4AB9-1173C4677BF1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8FF8CCB-5355-8427-0D34-DC765D4D7C2E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2BA13-301A-3DF6-83F6-25685AF256E4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시스템명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ACD5D-1DCE-4AAC-C363-E59D80343ECC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06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CEFF7CA-F9CE-146A-16CD-24C4BB8FA0F4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0509AFA-575A-D2B5-AE86-90AC26138574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시스템명과 핵심 정의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ACC1B5-C1A2-BFE5-D326-783EB8A9BEC1}"/>
              </a:ext>
            </a:extLst>
          </p:cNvPr>
          <p:cNvSpPr/>
          <p:nvPr/>
        </p:nvSpPr>
        <p:spPr>
          <a:xfrm>
            <a:off x="533400" y="2032000"/>
            <a:ext cx="3987800" cy="27178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E293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3CC1D6-6CDD-50F6-1DF3-83C1A5F66A92}"/>
              </a:ext>
            </a:extLst>
          </p:cNvPr>
          <p:cNvSpPr txBox="1"/>
          <p:nvPr/>
        </p:nvSpPr>
        <p:spPr>
          <a:xfrm>
            <a:off x="736600" y="22352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DBEAFE"/>
                </a:solidFill>
                <a:latin typeface="Pretendard" panose="02000503000000020004" pitchFamily="50" charset="-127"/>
              </a:rPr>
              <a:t>시스템명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947B1-2249-37F5-1B7F-47ABF6FD4C3B}"/>
              </a:ext>
            </a:extLst>
          </p:cNvPr>
          <p:cNvSpPr txBox="1"/>
          <p:nvPr/>
        </p:nvSpPr>
        <p:spPr>
          <a:xfrm>
            <a:off x="736600" y="2489200"/>
            <a:ext cx="358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100" b="1">
                <a:solidFill>
                  <a:srgbClr val="FFFFFF"/>
                </a:solidFill>
                <a:latin typeface="Pretendard" panose="02000503000000020004" pitchFamily="50" charset="-127"/>
              </a:rPr>
              <a:t>AI </a:t>
            </a:r>
            <a:r>
              <a:rPr lang="ko-KR" altLang="en-US" sz="2100" b="1">
                <a:solidFill>
                  <a:srgbClr val="FFFFFF"/>
                </a:solidFill>
                <a:latin typeface="Pretendard" panose="02000503000000020004" pitchFamily="50" charset="-127"/>
              </a:rPr>
              <a:t>환각 방지 모델 오케스트레이션 시스템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B08B9-3AA2-54B0-F9C1-317B8673C5B2}"/>
              </a:ext>
            </a:extLst>
          </p:cNvPr>
          <p:cNvSpPr txBox="1"/>
          <p:nvPr/>
        </p:nvSpPr>
        <p:spPr>
          <a:xfrm>
            <a:off x="736600" y="3048000"/>
            <a:ext cx="3581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30">
                <a:solidFill>
                  <a:srgbClr val="DBEAFE"/>
                </a:solidFill>
                <a:latin typeface="Pretendard" panose="02000503000000020004" pitchFamily="50" charset="-127"/>
              </a:rPr>
              <a:t>영문명은 </a:t>
            </a:r>
            <a:r>
              <a:rPr lang="en-US" altLang="ko-KR" sz="1130">
                <a:solidFill>
                  <a:srgbClr val="DBEAFE"/>
                </a:solidFill>
                <a:latin typeface="Pretendard" panose="02000503000000020004" pitchFamily="50" charset="-127"/>
              </a:rPr>
              <a:t>AI Hallucination Mitigation Model Orchestration System</a:t>
            </a:r>
            <a:r>
              <a:rPr lang="ko-KR" altLang="en-US" sz="1130">
                <a:solidFill>
                  <a:srgbClr val="DBEAFE"/>
                </a:solidFill>
                <a:latin typeface="Pretendard" panose="02000503000000020004" pitchFamily="50" charset="-127"/>
              </a:rPr>
              <a:t>이며</a:t>
            </a:r>
            <a:r>
              <a:rPr lang="en-US" altLang="ko-KR" sz="113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DBEAFE"/>
                </a:solidFill>
                <a:latin typeface="Pretendard" panose="02000503000000020004" pitchFamily="50" charset="-127"/>
              </a:rPr>
              <a:t>시스템이 하는 일을 이름에 직접 반영했다</a:t>
            </a:r>
            <a:r>
              <a:rPr lang="en-US" altLang="ko-KR" sz="1130">
                <a:solidFill>
                  <a:srgbClr val="DBEAFE"/>
                </a:solidFill>
                <a:latin typeface="Pretendard" panose="02000503000000020004" pitchFamily="50" charset="-127"/>
              </a:rPr>
              <a:t>.</a:t>
            </a:r>
            <a:endParaRPr lang="ko-KR" altLang="en-US" sz="1130">
              <a:solidFill>
                <a:srgbClr val="DBEAFE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DFDD58-7EAF-01F2-8B24-15B30B30D578}"/>
              </a:ext>
            </a:extLst>
          </p:cNvPr>
          <p:cNvSpPr/>
          <p:nvPr/>
        </p:nvSpPr>
        <p:spPr>
          <a:xfrm>
            <a:off x="4902200" y="2032000"/>
            <a:ext cx="6781800" cy="2717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C9C72-7477-EA73-0BDD-0D594EF2B0E8}"/>
              </a:ext>
            </a:extLst>
          </p:cNvPr>
          <p:cNvSpPr txBox="1"/>
          <p:nvPr/>
        </p:nvSpPr>
        <p:spPr>
          <a:xfrm>
            <a:off x="5105400" y="2235200"/>
            <a:ext cx="637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한 줄 정의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F5417F-36E4-4E5E-AD0F-A31C7A2E00BA}"/>
              </a:ext>
            </a:extLst>
          </p:cNvPr>
          <p:cNvSpPr txBox="1"/>
          <p:nvPr/>
        </p:nvSpPr>
        <p:spPr>
          <a:xfrm>
            <a:off x="5105400" y="2489200"/>
            <a:ext cx="6375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사용자가 모델 조합과 대화 횟수를 직접 정하는 검증형 </a:t>
            </a:r>
            <a:r>
              <a:rPr lang="en-US" altLang="ko-KR" b="1">
                <a:solidFill>
                  <a:srgbClr val="0F172A"/>
                </a:solidFill>
                <a:latin typeface="Pretendard" panose="02000503000000020004" pitchFamily="50" charset="-127"/>
              </a:rPr>
              <a:t>AI </a:t>
            </a:r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시스템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31C6E-A601-60B0-1DC3-2EEEAFC4A123}"/>
              </a:ext>
            </a:extLst>
          </p:cNvPr>
          <p:cNvSpPr txBox="1"/>
          <p:nvPr/>
        </p:nvSpPr>
        <p:spPr>
          <a:xfrm>
            <a:off x="5105400" y="3048000"/>
            <a:ext cx="63754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•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여러 모델이 하나의 질문을 놓고 검토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반박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보완을 반복한다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.
•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판정 모델이 최종 답변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확신도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남은 쟁점을 정리한다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.
•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핵심은 정답을 더 화려하게 만드는 것이 아니라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답변이 검토되는 구조를 만드는 데 있다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07B12D7-1755-788A-5E00-7A70217A91D7}"/>
              </a:ext>
            </a:extLst>
          </p:cNvPr>
          <p:cNvSpPr/>
          <p:nvPr/>
        </p:nvSpPr>
        <p:spPr>
          <a:xfrm>
            <a:off x="533400" y="5130800"/>
            <a:ext cx="11150600" cy="5842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2621A8-AC6E-F385-3086-4057D1FA8DCC}"/>
              </a:ext>
            </a:extLst>
          </p:cNvPr>
          <p:cNvSpPr txBox="1"/>
          <p:nvPr/>
        </p:nvSpPr>
        <p:spPr>
          <a:xfrm>
            <a:off x="762000" y="52832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즉 이 시스템은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'AI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가 말한 답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보다 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검증을 거친 답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'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을 제공하려는 방향의 소프트웨어 시스템이다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C0765A-3BEB-CB9A-94DF-6F30BD77343B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시스템명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348021-7EFD-AF0D-8AB0-D00AC2D02F74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06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13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C8A3CD75-DA8A-531E-3666-0B6A26C3E743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41ED6B2-F18B-2F65-0B46-5504A49E9FF8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6C28822-C53E-F970-CC14-6C71BA20F55D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BD09627-6627-F785-9072-FCFA4104015D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123B1-C329-D87D-1DE6-D4E42D69CA86}"/>
              </a:ext>
            </a:extLst>
          </p:cNvPr>
          <p:cNvSpPr txBox="1"/>
          <p:nvPr/>
        </p:nvSpPr>
        <p:spPr>
          <a:xfrm>
            <a:off x="685800" y="330200"/>
            <a:ext cx="1219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시스템 개념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CBD05-7AAB-396A-7793-5A1CA6E963C2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07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2BA8737-02E1-D5E3-E732-BFEF89FBEA23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7EE06F-7BB7-4F1C-187A-74C3191727D9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초안 </a:t>
            </a:r>
            <a:r>
              <a:rPr lang="en-US" altLang="ko-KR" sz="2600" b="1">
                <a:solidFill>
                  <a:srgbClr val="0F172A"/>
                </a:solidFill>
                <a:latin typeface="Pretendard" panose="02000503000000020004" pitchFamily="50" charset="-127"/>
              </a:rPr>
              <a:t>· </a:t>
            </a:r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토론 </a:t>
            </a:r>
            <a:r>
              <a:rPr lang="en-US" altLang="ko-KR" sz="2600" b="1">
                <a:solidFill>
                  <a:srgbClr val="0F172A"/>
                </a:solidFill>
                <a:latin typeface="Pretendard" panose="02000503000000020004" pitchFamily="50" charset="-127"/>
              </a:rPr>
              <a:t>· </a:t>
            </a:r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판정의 역할을 분리해 검증 구조를 만든다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90FB234-AAD3-7776-20E1-ECDCECE26414}"/>
              </a:ext>
            </a:extLst>
          </p:cNvPr>
          <p:cNvSpPr/>
          <p:nvPr/>
        </p:nvSpPr>
        <p:spPr>
          <a:xfrm>
            <a:off x="533400" y="2159000"/>
            <a:ext cx="3429000" cy="2463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9FDF1F-BB8C-1053-941E-8E5D58012D82}"/>
              </a:ext>
            </a:extLst>
          </p:cNvPr>
          <p:cNvSpPr txBox="1"/>
          <p:nvPr/>
        </p:nvSpPr>
        <p:spPr>
          <a:xfrm>
            <a:off x="736600" y="2362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1</a:t>
            </a:r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단계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3D3513-95DB-29F4-56AD-A794C84D8290}"/>
              </a:ext>
            </a:extLst>
          </p:cNvPr>
          <p:cNvSpPr txBox="1"/>
          <p:nvPr/>
        </p:nvSpPr>
        <p:spPr>
          <a:xfrm>
            <a:off x="736600" y="2616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0F172A"/>
                </a:solidFill>
                <a:latin typeface="Pretendard" panose="02000503000000020004" pitchFamily="50" charset="-127"/>
              </a:rPr>
              <a:t>초안 모델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0E7A5-728D-DB58-520B-8B334481F41C}"/>
              </a:ext>
            </a:extLst>
          </p:cNvPr>
          <p:cNvSpPr txBox="1"/>
          <p:nvPr/>
        </p:nvSpPr>
        <p:spPr>
          <a:xfrm>
            <a:off x="736600" y="3175000"/>
            <a:ext cx="3022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첫 답변을 생성한다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문제 정의와 핵심 설명을 먼저 제시하는 역할을 맡는다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4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AC6FAAE-B596-A8A1-15BB-F7AFC903D36C}"/>
              </a:ext>
            </a:extLst>
          </p:cNvPr>
          <p:cNvSpPr/>
          <p:nvPr/>
        </p:nvSpPr>
        <p:spPr>
          <a:xfrm>
            <a:off x="4381500" y="2159000"/>
            <a:ext cx="3429000" cy="2463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2BEA0-80C0-A282-25D0-A3C3B24840EA}"/>
              </a:ext>
            </a:extLst>
          </p:cNvPr>
          <p:cNvSpPr txBox="1"/>
          <p:nvPr/>
        </p:nvSpPr>
        <p:spPr>
          <a:xfrm>
            <a:off x="4584700" y="2362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2</a:t>
            </a:r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DFB2B6-F8F5-0239-3904-B5A280A24BA4}"/>
              </a:ext>
            </a:extLst>
          </p:cNvPr>
          <p:cNvSpPr txBox="1"/>
          <p:nvPr/>
        </p:nvSpPr>
        <p:spPr>
          <a:xfrm>
            <a:off x="4584700" y="2616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0F172A"/>
                </a:solidFill>
                <a:latin typeface="Pretendard" panose="02000503000000020004" pitchFamily="50" charset="-127"/>
              </a:rPr>
              <a:t>토론 모델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95871-F8D9-43CB-4B8F-59A817181348}"/>
              </a:ext>
            </a:extLst>
          </p:cNvPr>
          <p:cNvSpPr txBox="1"/>
          <p:nvPr/>
        </p:nvSpPr>
        <p:spPr>
          <a:xfrm>
            <a:off x="4584700" y="3175000"/>
            <a:ext cx="3022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사실성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누락 조건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반례 가능성을 검토한다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서로의 주장에 반박하며 답변을 보완한다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4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01E8C8-04AF-0C8F-BD1B-4BDAA19BAA47}"/>
              </a:ext>
            </a:extLst>
          </p:cNvPr>
          <p:cNvSpPr/>
          <p:nvPr/>
        </p:nvSpPr>
        <p:spPr>
          <a:xfrm>
            <a:off x="8229600" y="2159000"/>
            <a:ext cx="3429000" cy="2463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1795E2-A278-1216-06FB-324F1DA3F7E0}"/>
              </a:ext>
            </a:extLst>
          </p:cNvPr>
          <p:cNvSpPr txBox="1"/>
          <p:nvPr/>
        </p:nvSpPr>
        <p:spPr>
          <a:xfrm>
            <a:off x="8432800" y="2362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3</a:t>
            </a:r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단계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A8C120-D20B-E6BE-9375-714A2E7BC054}"/>
              </a:ext>
            </a:extLst>
          </p:cNvPr>
          <p:cNvSpPr txBox="1"/>
          <p:nvPr/>
        </p:nvSpPr>
        <p:spPr>
          <a:xfrm>
            <a:off x="8432800" y="26162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0F172A"/>
                </a:solidFill>
                <a:latin typeface="Pretendard" panose="02000503000000020004" pitchFamily="50" charset="-127"/>
              </a:rPr>
              <a:t>판정 모델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8F48E7-36C2-38A9-B58D-BDF2B37188E8}"/>
              </a:ext>
            </a:extLst>
          </p:cNvPr>
          <p:cNvSpPr txBox="1"/>
          <p:nvPr/>
        </p:nvSpPr>
        <p:spPr>
          <a:xfrm>
            <a:off x="8432800" y="3175000"/>
            <a:ext cx="3022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전체 대화를 읽고 최종 답변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채택 이유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불확실성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40">
                <a:solidFill>
                  <a:srgbClr val="475569"/>
                </a:solidFill>
                <a:latin typeface="Pretendard" panose="02000503000000020004" pitchFamily="50" charset="-127"/>
              </a:rPr>
              <a:t>남은 쟁점을 정리한다</a:t>
            </a:r>
            <a:r>
              <a:rPr lang="en-US" altLang="ko-KR" sz="114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4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C12E8D9-83F2-8120-9CD7-F2FBC435F46B}"/>
              </a:ext>
            </a:extLst>
          </p:cNvPr>
          <p:cNvCxnSpPr/>
          <p:nvPr/>
        </p:nvCxnSpPr>
        <p:spPr>
          <a:xfrm>
            <a:off x="3962400" y="3378200"/>
            <a:ext cx="406400" cy="0"/>
          </a:xfrm>
          <a:prstGeom prst="line">
            <a:avLst/>
          </a:prstGeom>
          <a:ln w="25400" cap="flat" cmpd="sng" algn="ctr">
            <a:solidFill>
              <a:srgbClr val="2563EB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E6DF610-2534-30D0-68CE-B33C4406D860}"/>
              </a:ext>
            </a:extLst>
          </p:cNvPr>
          <p:cNvCxnSpPr/>
          <p:nvPr/>
        </p:nvCxnSpPr>
        <p:spPr>
          <a:xfrm>
            <a:off x="7810500" y="3378200"/>
            <a:ext cx="406400" cy="0"/>
          </a:xfrm>
          <a:prstGeom prst="line">
            <a:avLst/>
          </a:prstGeom>
          <a:ln w="25400" cap="flat" cmpd="sng" algn="ctr">
            <a:solidFill>
              <a:srgbClr val="2563EB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ACA75CC-61B5-E865-9D36-611B5C0A2912}"/>
              </a:ext>
            </a:extLst>
          </p:cNvPr>
          <p:cNvSpPr/>
          <p:nvPr/>
        </p:nvSpPr>
        <p:spPr>
          <a:xfrm>
            <a:off x="533400" y="5080000"/>
            <a:ext cx="11150600" cy="6604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F75C80-9623-BA86-890E-1BD9C09BF4A0}"/>
              </a:ext>
            </a:extLst>
          </p:cNvPr>
          <p:cNvSpPr txBox="1"/>
          <p:nvPr/>
        </p:nvSpPr>
        <p:spPr>
          <a:xfrm>
            <a:off x="762000" y="5232400"/>
            <a:ext cx="10693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이 구조의 장점은 모델이 틀릴 수 있다는 점을 시스템 설계에 전제로 반영한다는 것이다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즉 하나의 답을 바로 믿지 않고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검토 과정을 통해 신뢰도를 높인다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946FA6-6E46-7D4C-1A41-DDD6BA28A24A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시스템 설명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7181FE-EEAE-0B2C-D90C-C30BFF3AC7E2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07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1002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8068C99-F1B9-2A61-7890-C62325093BF8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CB40998-57E4-6D62-64FC-CE74AEE240F2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CD40920-F791-37CD-8269-D8449875F5FB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3AF5FEA-2969-8EDC-B96D-AEFC56FCFE22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FEE47-D2C9-ECCF-3C57-C6012339A362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작동 흐름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9C337-235C-DEA2-6155-1BEF1D510329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08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5D3C52C-E033-3B07-ACDF-68FB4F8C58C1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E03960-D319-DD3A-7314-CB633CFD4858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실제 사용 흐름은 </a:t>
            </a:r>
            <a:r>
              <a:rPr lang="en-US" altLang="ko-KR" sz="2600" b="1">
                <a:solidFill>
                  <a:srgbClr val="0F172A"/>
                </a:solidFill>
                <a:latin typeface="Pretendard" panose="02000503000000020004" pitchFamily="50" charset="-127"/>
              </a:rPr>
              <a:t>5</a:t>
            </a:r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단계로 설명할 수 있다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5DFDDCE-0EE8-943B-1614-3D58E7CF38D5}"/>
              </a:ext>
            </a:extLst>
          </p:cNvPr>
          <p:cNvSpPr/>
          <p:nvPr/>
        </p:nvSpPr>
        <p:spPr>
          <a:xfrm>
            <a:off x="533400" y="2387600"/>
            <a:ext cx="2133600" cy="220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6F62102-8D92-F0AD-3ED5-4B5A1C2F1501}"/>
              </a:ext>
            </a:extLst>
          </p:cNvPr>
          <p:cNvSpPr/>
          <p:nvPr/>
        </p:nvSpPr>
        <p:spPr>
          <a:xfrm>
            <a:off x="736600" y="2590800"/>
            <a:ext cx="355600" cy="355600"/>
          </a:xfrm>
          <a:prstGeom prst="ellipse">
            <a:avLst/>
          </a:prstGeom>
          <a:solidFill>
            <a:srgbClr val="DBEAFE"/>
          </a:solidFill>
          <a:ln w="12700" cap="flat" cmpd="sng" algn="ctr">
            <a:solidFill>
              <a:srgbClr val="2563EB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0DAC5-ECAC-8AAC-29B2-711BF5C2B9B0}"/>
              </a:ext>
            </a:extLst>
          </p:cNvPr>
          <p:cNvSpPr txBox="1"/>
          <p:nvPr/>
        </p:nvSpPr>
        <p:spPr>
          <a:xfrm>
            <a:off x="736600" y="2654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Pretendard" panose="02000503000000020004" pitchFamily="50" charset="-127"/>
              </a:rPr>
              <a:t>1</a:t>
            </a:r>
            <a:endParaRPr lang="ko-KR" altLang="en-US" sz="1100" b="1">
              <a:solidFill>
                <a:srgbClr val="2563EB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F296DD-A6C7-05F8-B1A5-F95AF0A7983E}"/>
              </a:ext>
            </a:extLst>
          </p:cNvPr>
          <p:cNvSpPr txBox="1"/>
          <p:nvPr/>
        </p:nvSpPr>
        <p:spPr>
          <a:xfrm>
            <a:off x="736600" y="30988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50" b="1">
                <a:solidFill>
                  <a:srgbClr val="0F172A"/>
                </a:solidFill>
                <a:latin typeface="Pretendard" panose="02000503000000020004" pitchFamily="50" charset="-127"/>
              </a:rPr>
              <a:t>질문 입력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15DEE2-4036-EFB3-F785-64F3C9A9BC61}"/>
              </a:ext>
            </a:extLst>
          </p:cNvPr>
          <p:cNvSpPr txBox="1"/>
          <p:nvPr/>
        </p:nvSpPr>
        <p:spPr>
          <a:xfrm>
            <a:off x="736600" y="3454400"/>
            <a:ext cx="1727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30">
                <a:solidFill>
                  <a:srgbClr val="475569"/>
                </a:solidFill>
                <a:latin typeface="Pretendard" panose="02000503000000020004" pitchFamily="50" charset="-127"/>
              </a:rPr>
              <a:t>사용자가 검증이 필요한 질문을 입력한다</a:t>
            </a:r>
            <a:r>
              <a:rPr lang="en-US" altLang="ko-KR" sz="10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37E4302-F590-B93C-5581-2FD30041289B}"/>
              </a:ext>
            </a:extLst>
          </p:cNvPr>
          <p:cNvSpPr/>
          <p:nvPr/>
        </p:nvSpPr>
        <p:spPr>
          <a:xfrm>
            <a:off x="2794000" y="2387600"/>
            <a:ext cx="2133600" cy="220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5BB2275-78A4-4CCF-30BA-029F59E52256}"/>
              </a:ext>
            </a:extLst>
          </p:cNvPr>
          <p:cNvSpPr/>
          <p:nvPr/>
        </p:nvSpPr>
        <p:spPr>
          <a:xfrm>
            <a:off x="2997200" y="2590800"/>
            <a:ext cx="355600" cy="355600"/>
          </a:xfrm>
          <a:prstGeom prst="ellipse">
            <a:avLst/>
          </a:prstGeom>
          <a:solidFill>
            <a:srgbClr val="DBEAFE"/>
          </a:solidFill>
          <a:ln w="12700" cap="flat" cmpd="sng" algn="ctr">
            <a:solidFill>
              <a:srgbClr val="2563EB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DECE84-56C0-DE6D-E023-C88ABF495945}"/>
              </a:ext>
            </a:extLst>
          </p:cNvPr>
          <p:cNvSpPr txBox="1"/>
          <p:nvPr/>
        </p:nvSpPr>
        <p:spPr>
          <a:xfrm>
            <a:off x="2997200" y="2654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Pretendard" panose="02000503000000020004" pitchFamily="50" charset="-127"/>
              </a:rPr>
              <a:t>2</a:t>
            </a:r>
            <a:endParaRPr lang="ko-KR" altLang="en-US" sz="1100" b="1">
              <a:solidFill>
                <a:srgbClr val="2563EB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F6C666-D316-6476-06CE-5FBFEE9084CB}"/>
              </a:ext>
            </a:extLst>
          </p:cNvPr>
          <p:cNvSpPr txBox="1"/>
          <p:nvPr/>
        </p:nvSpPr>
        <p:spPr>
          <a:xfrm>
            <a:off x="2997200" y="30988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50" b="1">
                <a:solidFill>
                  <a:srgbClr val="0F172A"/>
                </a:solidFill>
                <a:latin typeface="Pretendard" panose="02000503000000020004" pitchFamily="50" charset="-127"/>
              </a:rPr>
              <a:t>모델 선택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DBCA05-FF8A-EC05-3638-8218F0BE0C0A}"/>
              </a:ext>
            </a:extLst>
          </p:cNvPr>
          <p:cNvSpPr txBox="1"/>
          <p:nvPr/>
        </p:nvSpPr>
        <p:spPr>
          <a:xfrm>
            <a:off x="2997200" y="3454400"/>
            <a:ext cx="1727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30">
                <a:solidFill>
                  <a:srgbClr val="475569"/>
                </a:solidFill>
                <a:latin typeface="Pretendard" panose="02000503000000020004" pitchFamily="50" charset="-127"/>
              </a:rPr>
              <a:t>참여 모델과 라운드 수를 직접 설정한다</a:t>
            </a:r>
            <a:r>
              <a:rPr lang="en-US" altLang="ko-KR" sz="10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EDC335B-CDAA-7290-4792-97D9C9C0DEE7}"/>
              </a:ext>
            </a:extLst>
          </p:cNvPr>
          <p:cNvSpPr/>
          <p:nvPr/>
        </p:nvSpPr>
        <p:spPr>
          <a:xfrm>
            <a:off x="5054600" y="2387600"/>
            <a:ext cx="2133600" cy="220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FD3A0AC-E787-1A6D-C5BC-F1475222C9F8}"/>
              </a:ext>
            </a:extLst>
          </p:cNvPr>
          <p:cNvSpPr/>
          <p:nvPr/>
        </p:nvSpPr>
        <p:spPr>
          <a:xfrm>
            <a:off x="5257800" y="2590800"/>
            <a:ext cx="355600" cy="355600"/>
          </a:xfrm>
          <a:prstGeom prst="ellipse">
            <a:avLst/>
          </a:prstGeom>
          <a:solidFill>
            <a:srgbClr val="DBEAFE"/>
          </a:solidFill>
          <a:ln w="12700" cap="flat" cmpd="sng" algn="ctr">
            <a:solidFill>
              <a:srgbClr val="2563EB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8A7376-5D26-4614-E756-7748BAF49EF5}"/>
              </a:ext>
            </a:extLst>
          </p:cNvPr>
          <p:cNvSpPr txBox="1"/>
          <p:nvPr/>
        </p:nvSpPr>
        <p:spPr>
          <a:xfrm>
            <a:off x="5257800" y="2654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Pretendard" panose="02000503000000020004" pitchFamily="50" charset="-127"/>
              </a:rPr>
              <a:t>3</a:t>
            </a:r>
            <a:endParaRPr lang="ko-KR" altLang="en-US" sz="1100" b="1">
              <a:solidFill>
                <a:srgbClr val="2563EB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A1F742-B6AC-D847-95C6-A65A93B44180}"/>
              </a:ext>
            </a:extLst>
          </p:cNvPr>
          <p:cNvSpPr txBox="1"/>
          <p:nvPr/>
        </p:nvSpPr>
        <p:spPr>
          <a:xfrm>
            <a:off x="5257800" y="30988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50" b="1">
                <a:solidFill>
                  <a:srgbClr val="0F172A"/>
                </a:solidFill>
                <a:latin typeface="Pretendard" panose="02000503000000020004" pitchFamily="50" charset="-127"/>
              </a:rPr>
              <a:t>초안 생성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8DD38C-12EC-70E1-B2FA-CCBC6B0136C3}"/>
              </a:ext>
            </a:extLst>
          </p:cNvPr>
          <p:cNvSpPr txBox="1"/>
          <p:nvPr/>
        </p:nvSpPr>
        <p:spPr>
          <a:xfrm>
            <a:off x="5257800" y="3454400"/>
            <a:ext cx="1727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30">
                <a:solidFill>
                  <a:srgbClr val="475569"/>
                </a:solidFill>
                <a:latin typeface="Pretendard" panose="02000503000000020004" pitchFamily="50" charset="-127"/>
              </a:rPr>
              <a:t>첫 번째 모델이 기본 답변을 작성한다</a:t>
            </a:r>
            <a:r>
              <a:rPr lang="en-US" altLang="ko-KR" sz="10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598C049-7331-0DB4-9C23-C7F5A8ED42EE}"/>
              </a:ext>
            </a:extLst>
          </p:cNvPr>
          <p:cNvSpPr/>
          <p:nvPr/>
        </p:nvSpPr>
        <p:spPr>
          <a:xfrm>
            <a:off x="7315200" y="2387600"/>
            <a:ext cx="2133600" cy="220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C402EF5-B6A8-6263-5C83-E81BD6753AE3}"/>
              </a:ext>
            </a:extLst>
          </p:cNvPr>
          <p:cNvSpPr/>
          <p:nvPr/>
        </p:nvSpPr>
        <p:spPr>
          <a:xfrm>
            <a:off x="7518400" y="2590800"/>
            <a:ext cx="355600" cy="355600"/>
          </a:xfrm>
          <a:prstGeom prst="ellipse">
            <a:avLst/>
          </a:prstGeom>
          <a:solidFill>
            <a:srgbClr val="DBEAFE"/>
          </a:solidFill>
          <a:ln w="12700" cap="flat" cmpd="sng" algn="ctr">
            <a:solidFill>
              <a:srgbClr val="2563EB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D2A0A2-A7A2-E449-6F24-0938F738E98A}"/>
              </a:ext>
            </a:extLst>
          </p:cNvPr>
          <p:cNvSpPr txBox="1"/>
          <p:nvPr/>
        </p:nvSpPr>
        <p:spPr>
          <a:xfrm>
            <a:off x="7518400" y="2654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Pretendard" panose="02000503000000020004" pitchFamily="50" charset="-127"/>
              </a:rPr>
              <a:t>4</a:t>
            </a:r>
            <a:endParaRPr lang="ko-KR" altLang="en-US" sz="1100" b="1">
              <a:solidFill>
                <a:srgbClr val="2563EB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E46DE-FAC3-4C39-AB9B-E56F71FD19DF}"/>
              </a:ext>
            </a:extLst>
          </p:cNvPr>
          <p:cNvSpPr txBox="1"/>
          <p:nvPr/>
        </p:nvSpPr>
        <p:spPr>
          <a:xfrm>
            <a:off x="7518400" y="30988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50" b="1">
                <a:solidFill>
                  <a:srgbClr val="0F172A"/>
                </a:solidFill>
                <a:latin typeface="Pretendard" panose="02000503000000020004" pitchFamily="50" charset="-127"/>
              </a:rPr>
              <a:t>상호검증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00EF5C-8686-9456-83A1-E6E181A20E2C}"/>
              </a:ext>
            </a:extLst>
          </p:cNvPr>
          <p:cNvSpPr txBox="1"/>
          <p:nvPr/>
        </p:nvSpPr>
        <p:spPr>
          <a:xfrm>
            <a:off x="7518400" y="3454400"/>
            <a:ext cx="1727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30">
                <a:solidFill>
                  <a:srgbClr val="475569"/>
                </a:solidFill>
                <a:latin typeface="Pretendard" panose="02000503000000020004" pitchFamily="50" charset="-127"/>
              </a:rPr>
              <a:t>다른 모델이 반박과 보완을 반복한다</a:t>
            </a:r>
            <a:r>
              <a:rPr lang="en-US" altLang="ko-KR" sz="10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58310AC-68E5-AC2A-2916-7AC3DD4DEB93}"/>
              </a:ext>
            </a:extLst>
          </p:cNvPr>
          <p:cNvSpPr/>
          <p:nvPr/>
        </p:nvSpPr>
        <p:spPr>
          <a:xfrm>
            <a:off x="9575800" y="2387600"/>
            <a:ext cx="2133600" cy="2209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BE8900-2274-2F1A-9AA9-17083F73C203}"/>
              </a:ext>
            </a:extLst>
          </p:cNvPr>
          <p:cNvSpPr/>
          <p:nvPr/>
        </p:nvSpPr>
        <p:spPr>
          <a:xfrm>
            <a:off x="9779000" y="2590800"/>
            <a:ext cx="355600" cy="355600"/>
          </a:xfrm>
          <a:prstGeom prst="ellipse">
            <a:avLst/>
          </a:prstGeom>
          <a:solidFill>
            <a:srgbClr val="DBEAFE"/>
          </a:solidFill>
          <a:ln w="12700" cap="flat" cmpd="sng" algn="ctr">
            <a:solidFill>
              <a:srgbClr val="2563EB">
                <a:alpha val="9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D0942C-1AF0-66A8-AC67-3BED661544F8}"/>
              </a:ext>
            </a:extLst>
          </p:cNvPr>
          <p:cNvSpPr txBox="1"/>
          <p:nvPr/>
        </p:nvSpPr>
        <p:spPr>
          <a:xfrm>
            <a:off x="9779000" y="26543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Pretendard" panose="02000503000000020004" pitchFamily="50" charset="-127"/>
              </a:rPr>
              <a:t>5</a:t>
            </a:r>
            <a:endParaRPr lang="ko-KR" altLang="en-US" sz="1100" b="1">
              <a:solidFill>
                <a:srgbClr val="2563EB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546BF9-8F9D-E56B-AAD7-18B83337994B}"/>
              </a:ext>
            </a:extLst>
          </p:cNvPr>
          <p:cNvSpPr txBox="1"/>
          <p:nvPr/>
        </p:nvSpPr>
        <p:spPr>
          <a:xfrm>
            <a:off x="9779000" y="3098800"/>
            <a:ext cx="172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50" b="1">
                <a:solidFill>
                  <a:srgbClr val="0F172A"/>
                </a:solidFill>
                <a:latin typeface="Pretendard" panose="02000503000000020004" pitchFamily="50" charset="-127"/>
              </a:rPr>
              <a:t>최종 판정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AE322D-BBC4-639C-3DD7-1B77B9678052}"/>
              </a:ext>
            </a:extLst>
          </p:cNvPr>
          <p:cNvSpPr txBox="1"/>
          <p:nvPr/>
        </p:nvSpPr>
        <p:spPr>
          <a:xfrm>
            <a:off x="9779000" y="3454400"/>
            <a:ext cx="1727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30">
                <a:solidFill>
                  <a:srgbClr val="475569"/>
                </a:solidFill>
                <a:latin typeface="Pretendard" panose="02000503000000020004" pitchFamily="50" charset="-127"/>
              </a:rPr>
              <a:t>판정 모델이 최종 답과 남은 쟁점을 정리한다</a:t>
            </a:r>
            <a:r>
              <a:rPr lang="en-US" altLang="ko-KR" sz="10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1F91BCC-93FD-B512-5A70-9E474942E6B6}"/>
              </a:ext>
            </a:extLst>
          </p:cNvPr>
          <p:cNvSpPr/>
          <p:nvPr/>
        </p:nvSpPr>
        <p:spPr>
          <a:xfrm>
            <a:off x="533400" y="5080000"/>
            <a:ext cx="11150600" cy="6350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ECBC8B-3430-5EA4-33DB-E953465CD0C6}"/>
              </a:ext>
            </a:extLst>
          </p:cNvPr>
          <p:cNvSpPr txBox="1"/>
          <p:nvPr/>
        </p:nvSpPr>
        <p:spPr>
          <a:xfrm>
            <a:off x="762000" y="5232400"/>
            <a:ext cx="10693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이 시스템은 사용자가 라운드 수를 정한다는 점이 중요하다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즉 검토 강도와 시간 비용을 사용자가 스스로 조절할 수 있다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CD1D77-E77F-1242-48D3-F240637622A0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시스템 설명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807428-5135-49E3-ED95-CB5793A361A3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08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733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411AA36-2182-0DA7-E92D-6FFAEB787BD8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F8D8282-2A57-142B-D22E-2DBC17AA8905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77C1189-27F2-A0C7-0D31-1DF1F5C05BA1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0F34F4-55E7-EA5D-1348-060F864FB061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84D99E-0D9B-F701-A6A7-574358C6F05A}"/>
              </a:ext>
            </a:extLst>
          </p:cNvPr>
          <p:cNvSpPr txBox="1"/>
          <p:nvPr/>
        </p:nvSpPr>
        <p:spPr>
          <a:xfrm>
            <a:off x="685800" y="330200"/>
            <a:ext cx="1219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시스템 사용자 정의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DFAFD-5749-6F83-F07A-8B98AF240429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09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4C6D70-DC77-294C-08C9-D5A7A576BAFA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65C1171-3758-0B71-4A96-A1D5B8C718AB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누가 언제 어디서 어떻게 쓰는가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88942B3-BE52-9724-71B2-04C7848B36C5}"/>
              </a:ext>
            </a:extLst>
          </p:cNvPr>
          <p:cNvSpPr/>
          <p:nvPr/>
        </p:nvSpPr>
        <p:spPr>
          <a:xfrm>
            <a:off x="533400" y="1981200"/>
            <a:ext cx="2413000" cy="1752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DCE65-0F05-25F6-4D84-0369371A9C95}"/>
              </a:ext>
            </a:extLst>
          </p:cNvPr>
          <p:cNvSpPr txBox="1"/>
          <p:nvPr/>
        </p:nvSpPr>
        <p:spPr>
          <a:xfrm>
            <a:off x="736600" y="21844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누가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65054-1B92-A76D-8C38-5D092C9BCCFC}"/>
              </a:ext>
            </a:extLst>
          </p:cNvPr>
          <p:cNvSpPr txBox="1"/>
          <p:nvPr/>
        </p:nvSpPr>
        <p:spPr>
          <a:xfrm>
            <a:off x="736600" y="24384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0F172A"/>
                </a:solidFill>
                <a:latin typeface="Pretendard" panose="02000503000000020004" pitchFamily="50" charset="-127"/>
              </a:rPr>
              <a:t>대학생과 학습자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56548-196C-8CDC-F250-B33EC221729F}"/>
              </a:ext>
            </a:extLst>
          </p:cNvPr>
          <p:cNvSpPr txBox="1"/>
          <p:nvPr/>
        </p:nvSpPr>
        <p:spPr>
          <a:xfrm>
            <a:off x="736600" y="2997200"/>
            <a:ext cx="2006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80">
                <a:solidFill>
                  <a:srgbClr val="475569"/>
                </a:solidFill>
                <a:latin typeface="Pretendard" panose="02000503000000020004" pitchFamily="50" charset="-127"/>
              </a:rPr>
              <a:t>과제</a:t>
            </a:r>
            <a:r>
              <a:rPr lang="en-US" altLang="ko-KR" sz="108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80">
                <a:solidFill>
                  <a:srgbClr val="475569"/>
                </a:solidFill>
                <a:latin typeface="Pretendard" panose="02000503000000020004" pitchFamily="50" charset="-127"/>
              </a:rPr>
              <a:t>보고서</a:t>
            </a:r>
            <a:r>
              <a:rPr lang="en-US" altLang="ko-KR" sz="108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80">
                <a:solidFill>
                  <a:srgbClr val="475569"/>
                </a:solidFill>
                <a:latin typeface="Pretendard" panose="02000503000000020004" pitchFamily="50" charset="-127"/>
              </a:rPr>
              <a:t>발표 자료를 준비하는 사용자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384CE6-0644-9C67-5D18-FAEAC4D7D18A}"/>
              </a:ext>
            </a:extLst>
          </p:cNvPr>
          <p:cNvSpPr/>
          <p:nvPr/>
        </p:nvSpPr>
        <p:spPr>
          <a:xfrm>
            <a:off x="3403600" y="1981200"/>
            <a:ext cx="2413000" cy="1752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60F56C-62B1-ED5E-FBC0-FF5EBE2A82EA}"/>
              </a:ext>
            </a:extLst>
          </p:cNvPr>
          <p:cNvSpPr txBox="1"/>
          <p:nvPr/>
        </p:nvSpPr>
        <p:spPr>
          <a:xfrm>
            <a:off x="3606800" y="21844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또 누가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6692FD-91BD-F9C7-F4F8-FFE4B177A20C}"/>
              </a:ext>
            </a:extLst>
          </p:cNvPr>
          <p:cNvSpPr txBox="1"/>
          <p:nvPr/>
        </p:nvSpPr>
        <p:spPr>
          <a:xfrm>
            <a:off x="3606800" y="2438400"/>
            <a:ext cx="2006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0F172A"/>
                </a:solidFill>
                <a:latin typeface="Pretendard" panose="02000503000000020004" pitchFamily="50" charset="-127"/>
              </a:rPr>
              <a:t>연구자와 실무 사용자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26D69A-8CEE-97CD-E983-A27F851607D6}"/>
              </a:ext>
            </a:extLst>
          </p:cNvPr>
          <p:cNvSpPr txBox="1"/>
          <p:nvPr/>
        </p:nvSpPr>
        <p:spPr>
          <a:xfrm>
            <a:off x="3606800" y="2997200"/>
            <a:ext cx="2006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80">
                <a:solidFill>
                  <a:srgbClr val="475569"/>
                </a:solidFill>
                <a:latin typeface="Pretendard" panose="02000503000000020004" pitchFamily="50" charset="-127"/>
              </a:rPr>
              <a:t>자료 조사와 검토 비용이 큰 사용자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B9A5B99-0749-BD92-9121-6D0DCDAF4DC1}"/>
              </a:ext>
            </a:extLst>
          </p:cNvPr>
          <p:cNvSpPr/>
          <p:nvPr/>
        </p:nvSpPr>
        <p:spPr>
          <a:xfrm>
            <a:off x="6273800" y="1981200"/>
            <a:ext cx="2413000" cy="1752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C87847-008B-029B-91CB-88B2A9DAE111}"/>
              </a:ext>
            </a:extLst>
          </p:cNvPr>
          <p:cNvSpPr txBox="1"/>
          <p:nvPr/>
        </p:nvSpPr>
        <p:spPr>
          <a:xfrm>
            <a:off x="6477000" y="21844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언제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50C0D-3EBC-60CF-9BA8-EED4994F6D66}"/>
              </a:ext>
            </a:extLst>
          </p:cNvPr>
          <p:cNvSpPr txBox="1"/>
          <p:nvPr/>
        </p:nvSpPr>
        <p:spPr>
          <a:xfrm>
            <a:off x="6477000" y="2438400"/>
            <a:ext cx="2006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0F172A"/>
                </a:solidFill>
                <a:latin typeface="Pretendard" panose="02000503000000020004" pitchFamily="50" charset="-127"/>
              </a:rPr>
              <a:t>정확성이 중요한 질문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E9EFB-096A-87F7-AE2B-CDD051FB968A}"/>
              </a:ext>
            </a:extLst>
          </p:cNvPr>
          <p:cNvSpPr txBox="1"/>
          <p:nvPr/>
        </p:nvSpPr>
        <p:spPr>
          <a:xfrm>
            <a:off x="6477000" y="2997200"/>
            <a:ext cx="2006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80">
                <a:solidFill>
                  <a:srgbClr val="475569"/>
                </a:solidFill>
                <a:latin typeface="Pretendard" panose="02000503000000020004" pitchFamily="50" charset="-127"/>
              </a:rPr>
              <a:t>여러 관점을 비교하고 싶은 상황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623C21E-6865-3F6F-84E8-BF37512B7062}"/>
              </a:ext>
            </a:extLst>
          </p:cNvPr>
          <p:cNvSpPr/>
          <p:nvPr/>
        </p:nvSpPr>
        <p:spPr>
          <a:xfrm>
            <a:off x="9144000" y="1981200"/>
            <a:ext cx="2413000" cy="1752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77FCE-8611-3A47-EA70-286B31AAFE76}"/>
              </a:ext>
            </a:extLst>
          </p:cNvPr>
          <p:cNvSpPr txBox="1"/>
          <p:nvPr/>
        </p:nvSpPr>
        <p:spPr>
          <a:xfrm>
            <a:off x="9347200" y="21844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어디서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·</a:t>
            </a:r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어떻게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22DD02-261C-0CA2-6015-D2A74C9EE065}"/>
              </a:ext>
            </a:extLst>
          </p:cNvPr>
          <p:cNvSpPr txBox="1"/>
          <p:nvPr/>
        </p:nvSpPr>
        <p:spPr>
          <a:xfrm>
            <a:off x="9347200" y="2438400"/>
            <a:ext cx="200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0F172A"/>
                </a:solidFill>
                <a:latin typeface="Pretendard" panose="02000503000000020004" pitchFamily="50" charset="-127"/>
              </a:rPr>
              <a:t>웹 기반 인터페이스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3C82CB-259E-67F1-40C1-E8F034798E52}"/>
              </a:ext>
            </a:extLst>
          </p:cNvPr>
          <p:cNvSpPr txBox="1"/>
          <p:nvPr/>
        </p:nvSpPr>
        <p:spPr>
          <a:xfrm>
            <a:off x="9347200" y="2997200"/>
            <a:ext cx="2006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80">
                <a:solidFill>
                  <a:srgbClr val="475569"/>
                </a:solidFill>
                <a:latin typeface="Pretendard" panose="02000503000000020004" pitchFamily="50" charset="-127"/>
              </a:rPr>
              <a:t>질문 입력 → 모델 선택 → 토론 확인 → 결과 검토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0606549-726F-53B9-5937-72CCA1C7DFF7}"/>
              </a:ext>
            </a:extLst>
          </p:cNvPr>
          <p:cNvSpPr/>
          <p:nvPr/>
        </p:nvSpPr>
        <p:spPr>
          <a:xfrm>
            <a:off x="533400" y="4140200"/>
            <a:ext cx="5334000" cy="1498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B59D36-27C7-0FF8-AD4E-7F3B3BFFD82F}"/>
              </a:ext>
            </a:extLst>
          </p:cNvPr>
          <p:cNvSpPr txBox="1"/>
          <p:nvPr/>
        </p:nvSpPr>
        <p:spPr>
          <a:xfrm>
            <a:off x="736600" y="43434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사용 맥락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4C4A2E-C734-392F-1661-41B581C5C9D3}"/>
              </a:ext>
            </a:extLst>
          </p:cNvPr>
          <p:cNvSpPr txBox="1"/>
          <p:nvPr/>
        </p:nvSpPr>
        <p:spPr>
          <a:xfrm>
            <a:off x="736600" y="45974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결과보다 검토 과정이 중요한 사용자에게 적합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51FAAD-E8AE-0D00-ED61-E2EFB60CF58F}"/>
              </a:ext>
            </a:extLst>
          </p:cNvPr>
          <p:cNvSpPr txBox="1"/>
          <p:nvPr/>
        </p:nvSpPr>
        <p:spPr>
          <a:xfrm>
            <a:off x="736600" y="5156200"/>
            <a:ext cx="4927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이 시스템은 빠른 답만 원하는 사람보다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답을 믿어도 되는지 확인해야 하는 사람에게 더 적합하다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5643BBA-2B87-1629-E6BB-CA86E22D8FB2}"/>
              </a:ext>
            </a:extLst>
          </p:cNvPr>
          <p:cNvSpPr/>
          <p:nvPr/>
        </p:nvSpPr>
        <p:spPr>
          <a:xfrm>
            <a:off x="6350000" y="4140200"/>
            <a:ext cx="5334000" cy="1498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42B917-8812-9F5C-D0E5-8A5E65A9532B}"/>
              </a:ext>
            </a:extLst>
          </p:cNvPr>
          <p:cNvSpPr txBox="1"/>
          <p:nvPr/>
        </p:nvSpPr>
        <p:spPr>
          <a:xfrm>
            <a:off x="6553200" y="43434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사용 방식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25A133-D2D7-B8E9-1BB0-19BD6D46158B}"/>
              </a:ext>
            </a:extLst>
          </p:cNvPr>
          <p:cNvSpPr txBox="1"/>
          <p:nvPr/>
        </p:nvSpPr>
        <p:spPr>
          <a:xfrm>
            <a:off x="6553200" y="45974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복잡한 로직 없이 선택만으로 사용 가능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4E7BF0-C414-789C-EB4E-7AC1DD5D7FA4}"/>
              </a:ext>
            </a:extLst>
          </p:cNvPr>
          <p:cNvSpPr txBox="1"/>
          <p:nvPr/>
        </p:nvSpPr>
        <p:spPr>
          <a:xfrm>
            <a:off x="6553200" y="5156200"/>
            <a:ext cx="4927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사용자는 오케스트레이션 내부 구조를 몰라도 모델과 라운드 수만 선택하면 된다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3B40FD-1CA9-4451-9F4D-D9AF5C232624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시스템 사용자 정의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425B3D-9D5F-6C92-F61A-DD8333B89802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09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647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36198933-E33C-DF64-C073-C54DD0956680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23DE1F8-1B1A-17A0-A499-9EA6C2BCC4F4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F54A749-E966-2F4B-22CA-BDA43D0689A1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3100137-855D-F3A2-D31D-E26C548FCC63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6D865-1B83-5A47-D2FF-828CC0F4B3FC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사용 장면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4E775-3D7C-1C6B-B616-1FBC5EB1DF8F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10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0D91470-9CDA-944F-0F37-70593627CD52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A6E913-85FE-1FC4-DABB-72CB7AF453FD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사용자는 이런 장면에서 시스템을 활용할 수 있다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4358B84-12EB-5321-FA1C-86A7A16AF098}"/>
              </a:ext>
            </a:extLst>
          </p:cNvPr>
          <p:cNvSpPr/>
          <p:nvPr/>
        </p:nvSpPr>
        <p:spPr>
          <a:xfrm>
            <a:off x="533400" y="2108200"/>
            <a:ext cx="3581400" cy="2717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260DE-D78F-3ED8-E642-ECE94E16A8BD}"/>
              </a:ext>
            </a:extLst>
          </p:cNvPr>
          <p:cNvSpPr txBox="1"/>
          <p:nvPr/>
        </p:nvSpPr>
        <p:spPr>
          <a:xfrm>
            <a:off x="736600" y="2311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대학생 시나리오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AFCE27-10AA-99FD-4943-2C6DC5F09377}"/>
              </a:ext>
            </a:extLst>
          </p:cNvPr>
          <p:cNvSpPr txBox="1"/>
          <p:nvPr/>
        </p:nvSpPr>
        <p:spPr>
          <a:xfrm>
            <a:off x="736600" y="2565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과제 자료 조사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C826A-D569-0669-B2DB-0D59FD85B3E3}"/>
              </a:ext>
            </a:extLst>
          </p:cNvPr>
          <p:cNvSpPr txBox="1"/>
          <p:nvPr/>
        </p:nvSpPr>
        <p:spPr>
          <a:xfrm>
            <a:off x="736600" y="3124200"/>
            <a:ext cx="3175000" cy="19389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여러 모델의 토론을 통해 개념 정의가 일치하는지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누락된 조건이 없는지 먼저 확인한 뒤 과제를 작성한다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.
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정확도 확인 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/ 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과제 작성 전 점검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F57E57-BAFF-6F61-617F-B7CA3FEF0027}"/>
              </a:ext>
            </a:extLst>
          </p:cNvPr>
          <p:cNvSpPr/>
          <p:nvPr/>
        </p:nvSpPr>
        <p:spPr>
          <a:xfrm>
            <a:off x="4305300" y="2108200"/>
            <a:ext cx="3581400" cy="2717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D2A094-5490-8A2C-6C30-19DD130F2A56}"/>
              </a:ext>
            </a:extLst>
          </p:cNvPr>
          <p:cNvSpPr txBox="1"/>
          <p:nvPr/>
        </p:nvSpPr>
        <p:spPr>
          <a:xfrm>
            <a:off x="4508500" y="2311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연구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·</a:t>
            </a:r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학습 시나리오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F89048-CA00-9052-1FB1-629586FF23B2}"/>
              </a:ext>
            </a:extLst>
          </p:cNvPr>
          <p:cNvSpPr txBox="1"/>
          <p:nvPr/>
        </p:nvSpPr>
        <p:spPr>
          <a:xfrm>
            <a:off x="4508500" y="2565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새로운 개념을 이해할 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8CBD17-F78D-6E04-EF30-6BBAEAA250B2}"/>
              </a:ext>
            </a:extLst>
          </p:cNvPr>
          <p:cNvSpPr txBox="1"/>
          <p:nvPr/>
        </p:nvSpPr>
        <p:spPr>
          <a:xfrm>
            <a:off x="4508500" y="3124200"/>
            <a:ext cx="3175000" cy="16619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하나의 설명만 듣는 대신 여러 모델이 같은 질문을 어떻게 해석하는지 비교하며 개념을 입체적으로 이해한다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.
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개념 비교 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/ 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오해 방지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D4F4BD2-662A-AA95-365B-38A642F7AEBF}"/>
              </a:ext>
            </a:extLst>
          </p:cNvPr>
          <p:cNvSpPr/>
          <p:nvPr/>
        </p:nvSpPr>
        <p:spPr>
          <a:xfrm>
            <a:off x="8077200" y="2108200"/>
            <a:ext cx="3581400" cy="2717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4D15C5-44BC-FBF7-54FC-BC3CE972B290}"/>
              </a:ext>
            </a:extLst>
          </p:cNvPr>
          <p:cNvSpPr txBox="1"/>
          <p:nvPr/>
        </p:nvSpPr>
        <p:spPr>
          <a:xfrm>
            <a:off x="8280400" y="2311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실무 시나리오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288EDF-8127-EFA4-1D77-16608A65D00E}"/>
              </a:ext>
            </a:extLst>
          </p:cNvPr>
          <p:cNvSpPr txBox="1"/>
          <p:nvPr/>
        </p:nvSpPr>
        <p:spPr>
          <a:xfrm>
            <a:off x="8280400" y="2565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기획 문서 초안 작성 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55B01-ECDB-5F3D-46DF-EB09F1FF6948}"/>
              </a:ext>
            </a:extLst>
          </p:cNvPr>
          <p:cNvSpPr txBox="1"/>
          <p:nvPr/>
        </p:nvSpPr>
        <p:spPr>
          <a:xfrm>
            <a:off x="8280400" y="3124200"/>
            <a:ext cx="3175000" cy="19389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여러 모델이 지적한 쟁점과 보완 포인트를 먼저 본 뒤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정리된 답변을 문서 초안 작성에 활용한다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.
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문서 품질 향상 </a:t>
            </a:r>
            <a:r>
              <a:rPr lang="en-US" altLang="ko-KR" sz="1110">
                <a:solidFill>
                  <a:srgbClr val="475569"/>
                </a:solidFill>
                <a:latin typeface="Pretendard" panose="02000503000000020004" pitchFamily="50" charset="-127"/>
              </a:rPr>
              <a:t>/ </a:t>
            </a:r>
            <a:r>
              <a:rPr lang="ko-KR" altLang="en-US" sz="1110">
                <a:solidFill>
                  <a:srgbClr val="475569"/>
                </a:solidFill>
                <a:latin typeface="Pretendard" panose="02000503000000020004" pitchFamily="50" charset="-127"/>
              </a:rPr>
              <a:t>검토 시간 절감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3B8D5D-9F6A-CD6E-EAA6-57E60DF9DDB6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사용 장면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96EEE-6F98-9622-1548-25D04EEE960B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10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586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1491C549-9420-A8A7-E033-C4D2E4C9DE5D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2171E9F-1F45-4EE4-2104-A9378ABE3194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0B23C50-9853-4668-E6B9-880019383AA4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8794C9-EEC3-D39E-AC9E-C7E32CAB089B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A7631A-8F18-3D04-C8D3-713130FDA5EF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핵심 기능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1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3114C-21CF-062C-26CC-71AC05614DB4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11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34706D5-76D9-13DB-3089-727DDD97EE8A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CA3CFE-43DC-D5AE-2599-ECA1F584CC88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모델 선택과 라운드 제어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F818C0-4F97-A22F-0EC6-7A371C2D465D}"/>
              </a:ext>
            </a:extLst>
          </p:cNvPr>
          <p:cNvSpPr/>
          <p:nvPr/>
        </p:nvSpPr>
        <p:spPr>
          <a:xfrm>
            <a:off x="533400" y="2032000"/>
            <a:ext cx="3911600" cy="30226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E293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261D6-E7D3-9D2B-F516-186F41317E95}"/>
              </a:ext>
            </a:extLst>
          </p:cNvPr>
          <p:cNvSpPr txBox="1"/>
          <p:nvPr/>
        </p:nvSpPr>
        <p:spPr>
          <a:xfrm>
            <a:off x="736600" y="22352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DBEAFE"/>
                </a:solidFill>
                <a:latin typeface="Pretendard" panose="02000503000000020004" pitchFamily="50" charset="-127"/>
              </a:rPr>
              <a:t>사용자 제어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9436A-6EA6-885D-386A-212261193CC8}"/>
              </a:ext>
            </a:extLst>
          </p:cNvPr>
          <p:cNvSpPr txBox="1"/>
          <p:nvPr/>
        </p:nvSpPr>
        <p:spPr>
          <a:xfrm>
            <a:off x="736600" y="2489200"/>
            <a:ext cx="3505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FFFFFF"/>
                </a:solidFill>
                <a:latin typeface="Pretendard" panose="02000503000000020004" pitchFamily="50" charset="-127"/>
              </a:rPr>
              <a:t>참여 모델과 검토 강도를 직접 정한다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84C85-64ED-9073-3BEE-E08E003E1755}"/>
              </a:ext>
            </a:extLst>
          </p:cNvPr>
          <p:cNvSpPr txBox="1"/>
          <p:nvPr/>
        </p:nvSpPr>
        <p:spPr>
          <a:xfrm>
            <a:off x="736600" y="3048000"/>
            <a:ext cx="35052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30">
                <a:solidFill>
                  <a:srgbClr val="DBEAFE"/>
                </a:solidFill>
                <a:latin typeface="Pretendard" panose="02000503000000020004" pitchFamily="50" charset="-127"/>
              </a:rPr>
              <a:t>사용자는 초안 모델</a:t>
            </a:r>
            <a:r>
              <a:rPr lang="en-US" altLang="ko-KR" sz="113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DBEAFE"/>
                </a:solidFill>
                <a:latin typeface="Pretendard" panose="02000503000000020004" pitchFamily="50" charset="-127"/>
              </a:rPr>
              <a:t>토론 모델</a:t>
            </a:r>
            <a:r>
              <a:rPr lang="en-US" altLang="ko-KR" sz="113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DBEAFE"/>
                </a:solidFill>
                <a:latin typeface="Pretendard" panose="02000503000000020004" pitchFamily="50" charset="-127"/>
              </a:rPr>
              <a:t>판정 모델의 조합을 선택할 수 있고</a:t>
            </a:r>
            <a:r>
              <a:rPr lang="en-US" altLang="ko-KR" sz="113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DBEAFE"/>
                </a:solidFill>
                <a:latin typeface="Pretendard" panose="02000503000000020004" pitchFamily="50" charset="-127"/>
              </a:rPr>
              <a:t>대화 라운드 수를 정해 검토 강도와 시간 비용을 조절할 수 있다</a:t>
            </a:r>
            <a:r>
              <a:rPr lang="en-US" altLang="ko-KR" sz="1130">
                <a:solidFill>
                  <a:srgbClr val="DBEAFE"/>
                </a:solidFill>
                <a:latin typeface="Pretendard" panose="02000503000000020004" pitchFamily="50" charset="-127"/>
              </a:rPr>
              <a:t>.</a:t>
            </a:r>
            <a:endParaRPr lang="ko-KR" altLang="en-US" sz="1130">
              <a:solidFill>
                <a:srgbClr val="DBEAFE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82DC95B-14B4-B55E-202F-8701B8BD5EC9}"/>
              </a:ext>
            </a:extLst>
          </p:cNvPr>
          <p:cNvSpPr/>
          <p:nvPr/>
        </p:nvSpPr>
        <p:spPr>
          <a:xfrm>
            <a:off x="4927600" y="2032000"/>
            <a:ext cx="6756400" cy="3022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24B064-6C08-C870-9455-DF5F88945538}"/>
              </a:ext>
            </a:extLst>
          </p:cNvPr>
          <p:cNvSpPr txBox="1"/>
          <p:nvPr/>
        </p:nvSpPr>
        <p:spPr>
          <a:xfrm>
            <a:off x="5232400" y="231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20" b="1">
                <a:solidFill>
                  <a:srgbClr val="475569"/>
                </a:solidFill>
                <a:latin typeface="Pretendard" panose="02000503000000020004" pitchFamily="50" charset="-127"/>
              </a:rPr>
              <a:t>설정 예시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6656B-EA9B-A7B1-C967-FE99F4A5287B}"/>
              </a:ext>
            </a:extLst>
          </p:cNvPr>
          <p:cNvSpPr txBox="1"/>
          <p:nvPr/>
        </p:nvSpPr>
        <p:spPr>
          <a:xfrm>
            <a:off x="5232400" y="2616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모델 조합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866092B-FB9B-BF18-90A3-4D362DC04426}"/>
              </a:ext>
            </a:extLst>
          </p:cNvPr>
          <p:cNvSpPr/>
          <p:nvPr/>
        </p:nvSpPr>
        <p:spPr>
          <a:xfrm>
            <a:off x="5232400" y="3022600"/>
            <a:ext cx="14986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4C5AD-48E1-17D2-C4EF-050A251FCB7F}"/>
              </a:ext>
            </a:extLst>
          </p:cNvPr>
          <p:cNvSpPr txBox="1"/>
          <p:nvPr/>
        </p:nvSpPr>
        <p:spPr>
          <a:xfrm>
            <a:off x="5384800" y="31369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000" b="1">
                <a:solidFill>
                  <a:srgbClr val="0F172A"/>
                </a:solidFill>
                <a:latin typeface="Pretendard" panose="02000503000000020004" pitchFamily="50" charset="-127"/>
              </a:rPr>
              <a:t>초안</a:t>
            </a:r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: GPT</a:t>
            </a:r>
            <a:endParaRPr lang="ko-KR" altLang="en-US" sz="10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B3B3065-00CB-EA15-11AF-F9BF17869772}"/>
              </a:ext>
            </a:extLst>
          </p:cNvPr>
          <p:cNvSpPr/>
          <p:nvPr/>
        </p:nvSpPr>
        <p:spPr>
          <a:xfrm>
            <a:off x="6858000" y="3022600"/>
            <a:ext cx="17526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8A0566-6B94-E891-6F38-15EDFF79AF7C}"/>
              </a:ext>
            </a:extLst>
          </p:cNvPr>
          <p:cNvSpPr txBox="1"/>
          <p:nvPr/>
        </p:nvSpPr>
        <p:spPr>
          <a:xfrm>
            <a:off x="7010400" y="31369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000" b="1">
                <a:solidFill>
                  <a:srgbClr val="F97316"/>
                </a:solidFill>
                <a:latin typeface="Pretendard" panose="02000503000000020004" pitchFamily="50" charset="-127"/>
              </a:rPr>
              <a:t>토론</a:t>
            </a:r>
            <a:r>
              <a:rPr lang="en-US" altLang="ko-KR" sz="1000" b="1">
                <a:solidFill>
                  <a:srgbClr val="F97316"/>
                </a:solidFill>
                <a:latin typeface="Pretendard" panose="02000503000000020004" pitchFamily="50" charset="-127"/>
              </a:rPr>
              <a:t>: Claude</a:t>
            </a:r>
            <a:endParaRPr lang="ko-KR" altLang="en-US" sz="1000" b="1">
              <a:solidFill>
                <a:srgbClr val="F97316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694B7A5-833F-D760-F90E-98F4EFCB0079}"/>
              </a:ext>
            </a:extLst>
          </p:cNvPr>
          <p:cNvSpPr/>
          <p:nvPr/>
        </p:nvSpPr>
        <p:spPr>
          <a:xfrm>
            <a:off x="8737600" y="3022600"/>
            <a:ext cx="1752600" cy="431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0201A6-9466-3AD2-38BE-80DF05404132}"/>
              </a:ext>
            </a:extLst>
          </p:cNvPr>
          <p:cNvSpPr txBox="1"/>
          <p:nvPr/>
        </p:nvSpPr>
        <p:spPr>
          <a:xfrm>
            <a:off x="8890000" y="31369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000" b="1">
                <a:solidFill>
                  <a:srgbClr val="7C3AED"/>
                </a:solidFill>
                <a:latin typeface="Pretendard" panose="02000503000000020004" pitchFamily="50" charset="-127"/>
              </a:rPr>
              <a:t>판정</a:t>
            </a:r>
            <a:r>
              <a:rPr lang="en-US" altLang="ko-KR" sz="1000" b="1">
                <a:solidFill>
                  <a:srgbClr val="7C3AED"/>
                </a:solidFill>
                <a:latin typeface="Pretendard" panose="02000503000000020004" pitchFamily="50" charset="-127"/>
              </a:rPr>
              <a:t>: Gemini</a:t>
            </a:r>
            <a:endParaRPr lang="ko-KR" altLang="en-US" sz="1000" b="1">
              <a:solidFill>
                <a:srgbClr val="7C3AED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01C3F-34FA-6A29-D41E-F58E5D60EBC6}"/>
              </a:ext>
            </a:extLst>
          </p:cNvPr>
          <p:cNvSpPr txBox="1"/>
          <p:nvPr/>
        </p:nvSpPr>
        <p:spPr>
          <a:xfrm>
            <a:off x="5232400" y="3810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대화 라운드 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BB18DFB-7782-BCCD-060A-203C9B5A4673}"/>
              </a:ext>
            </a:extLst>
          </p:cNvPr>
          <p:cNvSpPr/>
          <p:nvPr/>
        </p:nvSpPr>
        <p:spPr>
          <a:xfrm>
            <a:off x="5232400" y="4241800"/>
            <a:ext cx="736600" cy="38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A0DF2F-9050-805D-08AB-E5FD2E8BD4F9}"/>
              </a:ext>
            </a:extLst>
          </p:cNvPr>
          <p:cNvSpPr txBox="1"/>
          <p:nvPr/>
        </p:nvSpPr>
        <p:spPr>
          <a:xfrm>
            <a:off x="5232400" y="4343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1</a:t>
            </a:r>
            <a:r>
              <a:rPr lang="ko-KR" altLang="en-US" sz="1000" b="1">
                <a:solidFill>
                  <a:srgbClr val="0F172A"/>
                </a:solidFill>
                <a:latin typeface="Pretendard" panose="02000503000000020004" pitchFamily="50" charset="-127"/>
              </a:rPr>
              <a:t>회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C9B0F21-E42B-1779-DD66-1C31270CB419}"/>
              </a:ext>
            </a:extLst>
          </p:cNvPr>
          <p:cNvSpPr/>
          <p:nvPr/>
        </p:nvSpPr>
        <p:spPr>
          <a:xfrm>
            <a:off x="6121400" y="4241800"/>
            <a:ext cx="736600" cy="38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4CC003-7FFF-22AE-42FE-F41DDE8F08CA}"/>
              </a:ext>
            </a:extLst>
          </p:cNvPr>
          <p:cNvSpPr txBox="1"/>
          <p:nvPr/>
        </p:nvSpPr>
        <p:spPr>
          <a:xfrm>
            <a:off x="6121400" y="4343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2</a:t>
            </a:r>
            <a:r>
              <a:rPr lang="ko-KR" altLang="en-US" sz="1000" b="1">
                <a:solidFill>
                  <a:srgbClr val="0F172A"/>
                </a:solidFill>
                <a:latin typeface="Pretendard" panose="02000503000000020004" pitchFamily="50" charset="-127"/>
              </a:rPr>
              <a:t>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EF0806-313A-6DEE-B116-44C329BC03C5}"/>
              </a:ext>
            </a:extLst>
          </p:cNvPr>
          <p:cNvSpPr/>
          <p:nvPr/>
        </p:nvSpPr>
        <p:spPr>
          <a:xfrm>
            <a:off x="7010400" y="4241800"/>
            <a:ext cx="736600" cy="381000"/>
          </a:xfrm>
          <a:prstGeom prst="roundRect">
            <a:avLst/>
          </a:prstGeom>
          <a:solidFill>
            <a:srgbClr val="DBEAFE"/>
          </a:solidFill>
          <a:ln w="127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94957C-45B7-13F5-494A-88D37D5B0B25}"/>
              </a:ext>
            </a:extLst>
          </p:cNvPr>
          <p:cNvSpPr txBox="1"/>
          <p:nvPr/>
        </p:nvSpPr>
        <p:spPr>
          <a:xfrm>
            <a:off x="7010400" y="4343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3</a:t>
            </a:r>
            <a:r>
              <a:rPr lang="ko-KR" altLang="en-US" sz="1000" b="1">
                <a:solidFill>
                  <a:srgbClr val="0F172A"/>
                </a:solidFill>
                <a:latin typeface="Pretendard" panose="02000503000000020004" pitchFamily="50" charset="-127"/>
              </a:rPr>
              <a:t>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04DF966-FA5C-2125-0E87-0D2F934B5574}"/>
              </a:ext>
            </a:extLst>
          </p:cNvPr>
          <p:cNvSpPr/>
          <p:nvPr/>
        </p:nvSpPr>
        <p:spPr>
          <a:xfrm>
            <a:off x="7899400" y="4241800"/>
            <a:ext cx="736600" cy="38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827BE9-D199-15D8-3567-D8C0C5FDACFE}"/>
              </a:ext>
            </a:extLst>
          </p:cNvPr>
          <p:cNvSpPr txBox="1"/>
          <p:nvPr/>
        </p:nvSpPr>
        <p:spPr>
          <a:xfrm>
            <a:off x="7899400" y="43434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00" b="1">
                <a:solidFill>
                  <a:srgbClr val="0F172A"/>
                </a:solidFill>
                <a:latin typeface="Pretendard" panose="02000503000000020004" pitchFamily="50" charset="-127"/>
              </a:rPr>
              <a:t>4</a:t>
            </a:r>
            <a:r>
              <a:rPr lang="ko-KR" altLang="en-US" sz="1000" b="1">
                <a:solidFill>
                  <a:srgbClr val="0F172A"/>
                </a:solidFill>
                <a:latin typeface="Pretendard" panose="02000503000000020004" pitchFamily="50" charset="-127"/>
              </a:rPr>
              <a:t>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148C03-10A0-31F7-EA81-8E718C3668E9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핵심 기능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05CC9B-C255-2114-41A0-5D2F4D7C99B8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11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74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EC837E30-9E48-6188-6ABE-80969594F219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AF97B60-0829-3DD9-1A2D-7A50609CD778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5AD3C04-0A86-BC0B-56DA-E44DCD6FE060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28D90A2-6348-799C-DAE4-EFD300296561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DC4A0-2D19-82C0-6203-B538B1FB245F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핵심 기능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2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B8880-3DF6-9954-328D-4CEA2EEBE357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12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2747C4-0EB2-A991-3D57-BE7FC7889BBF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0E1CA04-E788-181D-F3CA-9239CD25D8C1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검증 과정을 시각적으로 보여준다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764C399-CA42-12AF-77E5-F5E0ADAF413A}"/>
              </a:ext>
            </a:extLst>
          </p:cNvPr>
          <p:cNvSpPr/>
          <p:nvPr/>
        </p:nvSpPr>
        <p:spPr>
          <a:xfrm>
            <a:off x="533400" y="1955800"/>
            <a:ext cx="4445000" cy="3429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A4D0C-EC99-F7A4-1E81-9D37271A99D1}"/>
              </a:ext>
            </a:extLst>
          </p:cNvPr>
          <p:cNvSpPr txBox="1"/>
          <p:nvPr/>
        </p:nvSpPr>
        <p:spPr>
          <a:xfrm>
            <a:off x="736600" y="2159000"/>
            <a:ext cx="403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메신저형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UI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E78CD-0FF4-150E-E245-F05574298929}"/>
              </a:ext>
            </a:extLst>
          </p:cNvPr>
          <p:cNvSpPr txBox="1"/>
          <p:nvPr/>
        </p:nvSpPr>
        <p:spPr>
          <a:xfrm>
            <a:off x="736600" y="2413000"/>
            <a:ext cx="403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토론 과정을 말풍선 흐름으로 보여준다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CF61BC-07CE-D365-7DDB-383942F2B9B9}"/>
              </a:ext>
            </a:extLst>
          </p:cNvPr>
          <p:cNvSpPr txBox="1"/>
          <p:nvPr/>
        </p:nvSpPr>
        <p:spPr>
          <a:xfrm>
            <a:off x="736600" y="2971800"/>
            <a:ext cx="4038600" cy="19389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최종 답변만 보여주는 대신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각 모델이 어떤 이유로 다른 모델의 주장을 수정하거나 반박했는지를 실시간으로 보여준다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
</a:t>
            </a:r>
            <a:r>
              <a:rPr lang="ko-KR" altLang="en-US" sz="1120">
                <a:solidFill>
                  <a:srgbClr val="475569"/>
                </a:solidFill>
                <a:latin typeface="Pretendard" panose="02000503000000020004" pitchFamily="50" charset="-127"/>
              </a:rPr>
              <a:t>이 기능은 설명 가능성과 신뢰도를 높이는 핵심 장치이다</a:t>
            </a:r>
            <a:r>
              <a:rPr lang="en-US" altLang="ko-KR" sz="112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2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7C11FCF-D855-2B42-D4EE-0B3FF975D2DA}"/>
              </a:ext>
            </a:extLst>
          </p:cNvPr>
          <p:cNvSpPr/>
          <p:nvPr/>
        </p:nvSpPr>
        <p:spPr>
          <a:xfrm>
            <a:off x="5359400" y="1955800"/>
            <a:ext cx="6324600" cy="342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82A41C5-7724-9EAD-643C-25AD0B98C571}"/>
              </a:ext>
            </a:extLst>
          </p:cNvPr>
          <p:cNvSpPr/>
          <p:nvPr/>
        </p:nvSpPr>
        <p:spPr>
          <a:xfrm>
            <a:off x="5638800" y="2286000"/>
            <a:ext cx="3733800" cy="7112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A03051-0709-7B13-0A94-07E2CFDD6A1A}"/>
              </a:ext>
            </a:extLst>
          </p:cNvPr>
          <p:cNvSpPr txBox="1"/>
          <p:nvPr/>
        </p:nvSpPr>
        <p:spPr>
          <a:xfrm>
            <a:off x="5816600" y="24130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80" b="1">
                <a:solidFill>
                  <a:srgbClr val="14B8A6"/>
                </a:solidFill>
                <a:latin typeface="Pretendard" panose="02000503000000020004" pitchFamily="50" charset="-127"/>
              </a:rPr>
              <a:t>초안 모델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E322FF-9417-925E-BBAE-E5CF6DB7447C}"/>
              </a:ext>
            </a:extLst>
          </p:cNvPr>
          <p:cNvSpPr txBox="1"/>
          <p:nvPr/>
        </p:nvSpPr>
        <p:spPr>
          <a:xfrm>
            <a:off x="5816600" y="2641600"/>
            <a:ext cx="3378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이 질문의 핵심은 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A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로 볼 수 있습니다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.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다만 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B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조건은 아직 충분히 반영되지 않았습니다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020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D1B0DBD-618D-EDFE-15D2-01EC060B48F4}"/>
              </a:ext>
            </a:extLst>
          </p:cNvPr>
          <p:cNvSpPr/>
          <p:nvPr/>
        </p:nvSpPr>
        <p:spPr>
          <a:xfrm>
            <a:off x="7112000" y="3124200"/>
            <a:ext cx="4216400" cy="711200"/>
          </a:xfrm>
          <a:prstGeom prst="roundRect">
            <a:avLst/>
          </a:prstGeom>
          <a:solidFill>
            <a:srgbClr val="DBEAFE">
              <a:alpha val="97000"/>
            </a:srgbClr>
          </a:solidFill>
          <a:ln w="127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935DEC-DFB8-4DBA-D442-4C0458D7939D}"/>
              </a:ext>
            </a:extLst>
          </p:cNvPr>
          <p:cNvSpPr txBox="1"/>
          <p:nvPr/>
        </p:nvSpPr>
        <p:spPr>
          <a:xfrm>
            <a:off x="7289800" y="3251200"/>
            <a:ext cx="386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80" b="1">
                <a:solidFill>
                  <a:srgbClr val="2563EB"/>
                </a:solidFill>
                <a:latin typeface="Pretendard" panose="02000503000000020004" pitchFamily="50" charset="-127"/>
              </a:rPr>
              <a:t>토론 모델 </a:t>
            </a:r>
            <a:r>
              <a:rPr lang="en-US" altLang="ko-KR" sz="880" b="1">
                <a:solidFill>
                  <a:srgbClr val="2563EB"/>
                </a:solidFill>
                <a:latin typeface="Pretendard" panose="02000503000000020004" pitchFamily="50" charset="-127"/>
              </a:rPr>
              <a:t>1</a:t>
            </a:r>
            <a:endParaRPr lang="ko-KR" altLang="en-US" sz="880" b="1">
              <a:solidFill>
                <a:srgbClr val="2563EB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DD46F-407E-F5B4-2012-03B6FC6B9134}"/>
              </a:ext>
            </a:extLst>
          </p:cNvPr>
          <p:cNvSpPr txBox="1"/>
          <p:nvPr/>
        </p:nvSpPr>
        <p:spPr>
          <a:xfrm>
            <a:off x="7289800" y="3479800"/>
            <a:ext cx="3860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A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설명은 가능하지만 방금 답변은 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B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조건과 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C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예외를 빠뜨렸습니다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020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48AF336-C225-EE1A-3275-B430A203587A}"/>
              </a:ext>
            </a:extLst>
          </p:cNvPr>
          <p:cNvSpPr/>
          <p:nvPr/>
        </p:nvSpPr>
        <p:spPr>
          <a:xfrm>
            <a:off x="5638800" y="3962400"/>
            <a:ext cx="4089400" cy="7112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EA6A6E-1B64-292F-DE63-4D023FC615C4}"/>
              </a:ext>
            </a:extLst>
          </p:cNvPr>
          <p:cNvSpPr txBox="1"/>
          <p:nvPr/>
        </p:nvSpPr>
        <p:spPr>
          <a:xfrm>
            <a:off x="5816600" y="4089400"/>
            <a:ext cx="373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80" b="1">
                <a:solidFill>
                  <a:srgbClr val="14B8A6"/>
                </a:solidFill>
                <a:latin typeface="Pretendard" panose="02000503000000020004" pitchFamily="50" charset="-127"/>
              </a:rPr>
              <a:t>토론 모델 </a:t>
            </a:r>
            <a:r>
              <a:rPr lang="en-US" altLang="ko-KR" sz="880" b="1">
                <a:solidFill>
                  <a:srgbClr val="14B8A6"/>
                </a:solidFill>
                <a:latin typeface="Pretendard" panose="02000503000000020004" pitchFamily="50" charset="-127"/>
              </a:rPr>
              <a:t>2</a:t>
            </a:r>
            <a:endParaRPr lang="ko-KR" altLang="en-US" sz="880" b="1">
              <a:solidFill>
                <a:srgbClr val="14B8A6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A8642F-703E-7AB8-488F-3B6C40E59416}"/>
              </a:ext>
            </a:extLst>
          </p:cNvPr>
          <p:cNvSpPr txBox="1"/>
          <p:nvPr/>
        </p:nvSpPr>
        <p:spPr>
          <a:xfrm>
            <a:off x="5816600" y="4318000"/>
            <a:ext cx="3733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C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예외뿐 아니라 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D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사례도 함께 보완해야 합니다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020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DBB1492-ED28-C6A3-A22B-A7C2F88A3317}"/>
              </a:ext>
            </a:extLst>
          </p:cNvPr>
          <p:cNvSpPr/>
          <p:nvPr/>
        </p:nvSpPr>
        <p:spPr>
          <a:xfrm>
            <a:off x="7112000" y="4800600"/>
            <a:ext cx="4216400" cy="711200"/>
          </a:xfrm>
          <a:prstGeom prst="roundRect">
            <a:avLst/>
          </a:prstGeom>
          <a:solidFill>
            <a:srgbClr val="DBEAFE">
              <a:alpha val="97000"/>
            </a:srgbClr>
          </a:solidFill>
          <a:ln w="127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4347F1-B93F-8218-27FE-7B1904D8C5C3}"/>
              </a:ext>
            </a:extLst>
          </p:cNvPr>
          <p:cNvSpPr txBox="1"/>
          <p:nvPr/>
        </p:nvSpPr>
        <p:spPr>
          <a:xfrm>
            <a:off x="7289800" y="4927600"/>
            <a:ext cx="386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80" b="1">
                <a:solidFill>
                  <a:srgbClr val="2563EB"/>
                </a:solidFill>
                <a:latin typeface="Pretendard" panose="02000503000000020004" pitchFamily="50" charset="-127"/>
              </a:rPr>
              <a:t>판정 모델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ABD9D5-964C-499D-70A5-04288E6AA1E1}"/>
              </a:ext>
            </a:extLst>
          </p:cNvPr>
          <p:cNvSpPr txBox="1"/>
          <p:nvPr/>
        </p:nvSpPr>
        <p:spPr>
          <a:xfrm>
            <a:off x="7289800" y="5156200"/>
            <a:ext cx="38608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최종적으로는 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A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를 중심으로 설명하되 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B, C, D </a:t>
            </a:r>
            <a:r>
              <a:rPr lang="ko-KR" altLang="en-US" sz="1020">
                <a:solidFill>
                  <a:srgbClr val="0F172A"/>
                </a:solidFill>
                <a:latin typeface="Pretendard" panose="02000503000000020004" pitchFamily="50" charset="-127"/>
              </a:rPr>
              <a:t>조건을 함께 적는 것이 가장 안전합니다</a:t>
            </a:r>
            <a:r>
              <a:rPr lang="en-US" altLang="ko-KR" sz="1020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020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45A8E6-4ECC-5066-3537-F26580B27478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핵심 기능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139E7D-4357-F1AD-579C-3371EE8280E1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12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4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1D0A3F69-646E-29EF-EA04-259BE06FEE09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F065EF8-009D-E1D1-DA59-6E78F82DC12B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F7DA151-FFB9-2527-4C9B-8D271F0CB924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375D05-98B2-CF53-F0B8-61F522FA727D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68C96-AB5E-BAC4-BE82-07CD0F3EA0C6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핵심 기능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3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C9CF77-293B-8ACF-6177-0688F9D1E906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13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621EE89-43DB-83BD-2D03-EE27C4D96C53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DD3E72-1058-647C-B652-913E16BEFC8E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판정과 불확실성 표시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ABFB030-365E-A58F-34B9-96B7478CDC2B}"/>
              </a:ext>
            </a:extLst>
          </p:cNvPr>
          <p:cNvSpPr/>
          <p:nvPr/>
        </p:nvSpPr>
        <p:spPr>
          <a:xfrm>
            <a:off x="533400" y="2006600"/>
            <a:ext cx="3581400" cy="2209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8A556-044D-1872-E211-CB4D215047A1}"/>
              </a:ext>
            </a:extLst>
          </p:cNvPr>
          <p:cNvSpPr txBox="1"/>
          <p:nvPr/>
        </p:nvSpPr>
        <p:spPr>
          <a:xfrm>
            <a:off x="736600" y="2209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기능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1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840B0-962C-C9E8-DA8B-58B6455819DB}"/>
              </a:ext>
            </a:extLst>
          </p:cNvPr>
          <p:cNvSpPr txBox="1"/>
          <p:nvPr/>
        </p:nvSpPr>
        <p:spPr>
          <a:xfrm>
            <a:off x="736600" y="2463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판정 모델 최종 정리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C354B1-4ED2-48B2-7911-B1ABDF783F4D}"/>
              </a:ext>
            </a:extLst>
          </p:cNvPr>
          <p:cNvSpPr txBox="1"/>
          <p:nvPr/>
        </p:nvSpPr>
        <p:spPr>
          <a:xfrm>
            <a:off x="736600" y="3022600"/>
            <a:ext cx="3175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전체 대화를 읽고 최종 답변과 채택 이유를 정리한다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C26905-039E-C0F1-3F12-509DC3697348}"/>
              </a:ext>
            </a:extLst>
          </p:cNvPr>
          <p:cNvSpPr/>
          <p:nvPr/>
        </p:nvSpPr>
        <p:spPr>
          <a:xfrm>
            <a:off x="4305300" y="2006600"/>
            <a:ext cx="3581400" cy="2209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59734-111E-B230-B021-8A3E0FB02C42}"/>
              </a:ext>
            </a:extLst>
          </p:cNvPr>
          <p:cNvSpPr txBox="1"/>
          <p:nvPr/>
        </p:nvSpPr>
        <p:spPr>
          <a:xfrm>
            <a:off x="4508500" y="2209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기능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2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3F0B8-F337-1217-9483-C3F5B4B1759B}"/>
              </a:ext>
            </a:extLst>
          </p:cNvPr>
          <p:cNvSpPr txBox="1"/>
          <p:nvPr/>
        </p:nvSpPr>
        <p:spPr>
          <a:xfrm>
            <a:off x="4508500" y="2463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확신도와 남은 쟁점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9D213D-CFCF-7B72-B47E-18E9337220F8}"/>
              </a:ext>
            </a:extLst>
          </p:cNvPr>
          <p:cNvSpPr txBox="1"/>
          <p:nvPr/>
        </p:nvSpPr>
        <p:spPr>
          <a:xfrm>
            <a:off x="4508500" y="3022600"/>
            <a:ext cx="31750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모델 간 합의가 부족하면 확신도를 낮게 표시하고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아직 해소되지 않은 쟁점을 따로 제시한다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2728FA7-EFF3-9EBB-E72D-4650427728E0}"/>
              </a:ext>
            </a:extLst>
          </p:cNvPr>
          <p:cNvSpPr/>
          <p:nvPr/>
        </p:nvSpPr>
        <p:spPr>
          <a:xfrm>
            <a:off x="8077200" y="2006600"/>
            <a:ext cx="3581400" cy="2209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6CB654-1794-56DB-0C85-6BC57748CFCC}"/>
              </a:ext>
            </a:extLst>
          </p:cNvPr>
          <p:cNvSpPr txBox="1"/>
          <p:nvPr/>
        </p:nvSpPr>
        <p:spPr>
          <a:xfrm>
            <a:off x="8280400" y="2209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기능 </a:t>
            </a:r>
            <a:r>
              <a:rPr lang="en-US" altLang="ko-KR" sz="850" b="1">
                <a:solidFill>
                  <a:srgbClr val="475569"/>
                </a:solidFill>
                <a:latin typeface="Pretendard" panose="02000503000000020004" pitchFamily="50" charset="-127"/>
              </a:rPr>
              <a:t>3</a:t>
            </a:r>
            <a:endParaRPr lang="ko-KR" altLang="en-US" sz="85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91932D-ED5F-A3E4-8055-35CDA84E184D}"/>
              </a:ext>
            </a:extLst>
          </p:cNvPr>
          <p:cNvSpPr txBox="1"/>
          <p:nvPr/>
        </p:nvSpPr>
        <p:spPr>
          <a:xfrm>
            <a:off x="8280400" y="2463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0F172A"/>
                </a:solidFill>
                <a:latin typeface="Pretendard" panose="02000503000000020004" pitchFamily="50" charset="-127"/>
              </a:rPr>
              <a:t>판단 보류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A9362B-BA20-ADA3-B93C-20EC9ABAF3EC}"/>
              </a:ext>
            </a:extLst>
          </p:cNvPr>
          <p:cNvSpPr txBox="1"/>
          <p:nvPr/>
        </p:nvSpPr>
        <p:spPr>
          <a:xfrm>
            <a:off x="8280400" y="3022600"/>
            <a:ext cx="31750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30">
                <a:solidFill>
                  <a:srgbClr val="475569"/>
                </a:solidFill>
                <a:latin typeface="Pretendard" panose="02000503000000020004" pitchFamily="50" charset="-127"/>
              </a:rPr>
              <a:t>근거가 부족하거나 의견 충돌이 크면 무리하게 하나의 답을 내지 않고 보류 상태를 표시한다</a:t>
            </a:r>
            <a:r>
              <a:rPr lang="en-US" altLang="ko-KR" sz="113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13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051505-2979-18F2-B05C-5051DF5CF79B}"/>
              </a:ext>
            </a:extLst>
          </p:cNvPr>
          <p:cNvSpPr/>
          <p:nvPr/>
        </p:nvSpPr>
        <p:spPr>
          <a:xfrm>
            <a:off x="533400" y="4546600"/>
            <a:ext cx="5334000" cy="1270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1814C-8C71-1883-4B91-72F810E354D4}"/>
              </a:ext>
            </a:extLst>
          </p:cNvPr>
          <p:cNvSpPr txBox="1"/>
          <p:nvPr/>
        </p:nvSpPr>
        <p:spPr>
          <a:xfrm>
            <a:off x="736600" y="47498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설계 원칙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847392-587C-C01D-36E1-8F72FDC8DFA3}"/>
              </a:ext>
            </a:extLst>
          </p:cNvPr>
          <p:cNvSpPr txBox="1"/>
          <p:nvPr/>
        </p:nvSpPr>
        <p:spPr>
          <a:xfrm>
            <a:off x="736600" y="50038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50" b="1">
                <a:solidFill>
                  <a:srgbClr val="0F172A"/>
                </a:solidFill>
                <a:latin typeface="Pretendard" panose="02000503000000020004" pitchFamily="50" charset="-127"/>
              </a:rPr>
              <a:t>모른다는 사실을 숨기지 않는 시스템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91EDBD-B8A1-5DB8-CBCF-9A3539251B71}"/>
              </a:ext>
            </a:extLst>
          </p:cNvPr>
          <p:cNvSpPr txBox="1"/>
          <p:nvPr/>
        </p:nvSpPr>
        <p:spPr>
          <a:xfrm>
            <a:off x="736600" y="5562600"/>
            <a:ext cx="4927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90">
                <a:solidFill>
                  <a:srgbClr val="475569"/>
                </a:solidFill>
                <a:latin typeface="Pretendard" panose="02000503000000020004" pitchFamily="50" charset="-127"/>
              </a:rPr>
              <a:t>좋은 시스템은 항상 답을 내는 시스템이 아니라</a:t>
            </a:r>
            <a:r>
              <a:rPr lang="en-US" altLang="ko-KR" sz="1090">
                <a:solidFill>
                  <a:srgbClr val="475569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90">
                <a:solidFill>
                  <a:srgbClr val="475569"/>
                </a:solidFill>
                <a:latin typeface="Pretendard" panose="02000503000000020004" pitchFamily="50" charset="-127"/>
              </a:rPr>
              <a:t>답하기 어려운 경우를 정직하게 표현하는 시스템이다</a:t>
            </a:r>
            <a:r>
              <a:rPr lang="en-US" altLang="ko-KR" sz="109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9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082D5A2-C9E3-6C3D-795B-5A82F45841E0}"/>
              </a:ext>
            </a:extLst>
          </p:cNvPr>
          <p:cNvSpPr/>
          <p:nvPr/>
        </p:nvSpPr>
        <p:spPr>
          <a:xfrm>
            <a:off x="6350000" y="4546600"/>
            <a:ext cx="5334000" cy="1270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6BC587-5934-40A6-42BF-EB5B7E53FBE6}"/>
              </a:ext>
            </a:extLst>
          </p:cNvPr>
          <p:cNvSpPr txBox="1"/>
          <p:nvPr/>
        </p:nvSpPr>
        <p:spPr>
          <a:xfrm>
            <a:off x="6553200" y="47498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기대 효과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11AFF3-2802-13A6-BF9E-89A8D00117DF}"/>
              </a:ext>
            </a:extLst>
          </p:cNvPr>
          <p:cNvSpPr txBox="1"/>
          <p:nvPr/>
        </p:nvSpPr>
        <p:spPr>
          <a:xfrm>
            <a:off x="6553200" y="50038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50" b="1">
                <a:solidFill>
                  <a:srgbClr val="0F172A"/>
                </a:solidFill>
                <a:latin typeface="Pretendard" panose="02000503000000020004" pitchFamily="50" charset="-127"/>
              </a:rPr>
              <a:t>결과 품질과 신뢰성을 함께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326474-8F43-F620-0997-E0009F150B2D}"/>
              </a:ext>
            </a:extLst>
          </p:cNvPr>
          <p:cNvSpPr txBox="1"/>
          <p:nvPr/>
        </p:nvSpPr>
        <p:spPr>
          <a:xfrm>
            <a:off x="6553200" y="5562600"/>
            <a:ext cx="49276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90">
                <a:solidFill>
                  <a:srgbClr val="475569"/>
                </a:solidFill>
                <a:latin typeface="Pretendard" panose="02000503000000020004" pitchFamily="50" charset="-127"/>
              </a:rPr>
              <a:t>답변 내용뿐 아니라 답변의 확실성까지 함께 보여주기 때문에 사용자가 결과를 더 안전하게 활용할 수 있다</a:t>
            </a:r>
            <a:r>
              <a:rPr lang="en-US" altLang="ko-KR" sz="109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9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5E63B4-76A4-8710-130F-8124E591C8B0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핵심 기능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14865F-0ABF-1D3C-18D2-F0CD3EF659E6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13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2275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702608C4-C99B-C990-5C91-1996B460A1DD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EABF69C-FA26-FA70-D195-E7048BF9BB04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C498E2D-8206-9AF1-2D05-A8DDD7A86862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F8FE73B-67E0-B907-DA5E-8688AEA747A4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66AF5-5F40-1797-72F3-4F385AB8FE15}"/>
              </a:ext>
            </a:extLst>
          </p:cNvPr>
          <p:cNvSpPr txBox="1"/>
          <p:nvPr/>
        </p:nvSpPr>
        <p:spPr>
          <a:xfrm>
            <a:off x="685800" y="330200"/>
            <a:ext cx="1219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유사 시스템 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30AC3-936A-9D34-8C6A-6AE7C6ED73A7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14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A1C166A-B8B9-2831-C669-C138DFD0A999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645DEE0-61E0-DF8E-C93C-17420EE2AD83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유사 관련 시스템과 비교했을 때 무엇이 다른가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3B52596-8206-731C-00D0-9C1A6F770360}"/>
              </a:ext>
            </a:extLst>
          </p:cNvPr>
          <p:cNvSpPr/>
          <p:nvPr/>
        </p:nvSpPr>
        <p:spPr>
          <a:xfrm>
            <a:off x="533400" y="1955800"/>
            <a:ext cx="5334000" cy="1600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82EF6-D1A8-BF94-3B7F-A96DDCAA8984}"/>
              </a:ext>
            </a:extLst>
          </p:cNvPr>
          <p:cNvSpPr txBox="1"/>
          <p:nvPr/>
        </p:nvSpPr>
        <p:spPr>
          <a:xfrm>
            <a:off x="736600" y="21336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0F172A"/>
                </a:solidFill>
                <a:latin typeface="Pretendard" panose="02000503000000020004" pitchFamily="50" charset="-127"/>
              </a:rPr>
              <a:t>Microsoft AutoGen</a:t>
            </a:r>
            <a:endParaRPr lang="ko-KR" altLang="en-US" sz="15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C8D46-75B9-F758-7672-B5B4CD530C8C}"/>
              </a:ext>
            </a:extLst>
          </p:cNvPr>
          <p:cNvSpPr txBox="1"/>
          <p:nvPr/>
        </p:nvSpPr>
        <p:spPr>
          <a:xfrm>
            <a:off x="736600" y="2489200"/>
            <a:ext cx="49276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주요 특징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여러 에이전트를 역할별로 연결하는 프레임워크
강점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다중 에이전트 상호작용 구조에 강하다
차이점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일반 사용자가 모델과 라운드 수를 직접 선택하는 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UI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는 기본이 아니다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2AB5561-552F-4ABC-DC44-87868F796464}"/>
              </a:ext>
            </a:extLst>
          </p:cNvPr>
          <p:cNvSpPr/>
          <p:nvPr/>
        </p:nvSpPr>
        <p:spPr>
          <a:xfrm>
            <a:off x="6350000" y="1955800"/>
            <a:ext cx="5334000" cy="1600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976064-41E2-BE3A-E777-1DA814687273}"/>
              </a:ext>
            </a:extLst>
          </p:cNvPr>
          <p:cNvSpPr txBox="1"/>
          <p:nvPr/>
        </p:nvSpPr>
        <p:spPr>
          <a:xfrm>
            <a:off x="6553200" y="21336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0F172A"/>
                </a:solidFill>
                <a:latin typeface="Pretendard" panose="02000503000000020004" pitchFamily="50" charset="-127"/>
              </a:rPr>
              <a:t>CrewAI</a:t>
            </a:r>
            <a:endParaRPr lang="ko-KR" altLang="en-US" sz="15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B0790B-5A49-AAFE-5642-E91D9345877B}"/>
              </a:ext>
            </a:extLst>
          </p:cNvPr>
          <p:cNvSpPr txBox="1"/>
          <p:nvPr/>
        </p:nvSpPr>
        <p:spPr>
          <a:xfrm>
            <a:off x="6553200" y="2489200"/>
            <a:ext cx="49276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주요 특징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AI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에이전트 간 역할 분담과 협업 실행
강점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역할 기반 협업 구조를 만들기 쉽다
차이점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환각 억제와 불확실성 표시를 전면 목표로 두지는 않는다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AE83F9C-0A2C-EFB0-F456-F124E210A47E}"/>
              </a:ext>
            </a:extLst>
          </p:cNvPr>
          <p:cNvSpPr/>
          <p:nvPr/>
        </p:nvSpPr>
        <p:spPr>
          <a:xfrm>
            <a:off x="533400" y="3810000"/>
            <a:ext cx="5334000" cy="1600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17ECD3-A0FF-718E-3252-630144F3F19E}"/>
              </a:ext>
            </a:extLst>
          </p:cNvPr>
          <p:cNvSpPr txBox="1"/>
          <p:nvPr/>
        </p:nvSpPr>
        <p:spPr>
          <a:xfrm>
            <a:off x="736600" y="39878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0F172A"/>
                </a:solidFill>
                <a:latin typeface="Pretendard" panose="02000503000000020004" pitchFamily="50" charset="-127"/>
              </a:rPr>
              <a:t>Perplexity AI</a:t>
            </a:r>
            <a:endParaRPr lang="ko-KR" altLang="en-US" sz="150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26628-7F50-DE0D-04CC-5D0E985A6158}"/>
              </a:ext>
            </a:extLst>
          </p:cNvPr>
          <p:cNvSpPr txBox="1"/>
          <p:nvPr/>
        </p:nvSpPr>
        <p:spPr>
          <a:xfrm>
            <a:off x="736600" y="4343400"/>
            <a:ext cx="4927600" cy="16619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주요 특징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검색 기반 답변과 근거 제시 중심 서비스
강점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빠른 정보 탐색과 출처 기반 응답에 강하다
차이점</a:t>
            </a:r>
            <a:r>
              <a:rPr lang="en-US" altLang="ko-KR" sz="1040">
                <a:solidFill>
                  <a:srgbClr val="475569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475569"/>
                </a:solidFill>
                <a:latin typeface="Pretendard" panose="02000503000000020004" pitchFamily="50" charset="-127"/>
              </a:rPr>
              <a:t>모델 간 토론 과정을 사용자에게 보여주는 구조와는 다르다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EA9331D-4059-C8FB-C68E-CF2440733F9F}"/>
              </a:ext>
            </a:extLst>
          </p:cNvPr>
          <p:cNvSpPr/>
          <p:nvPr/>
        </p:nvSpPr>
        <p:spPr>
          <a:xfrm>
            <a:off x="6350000" y="3810000"/>
            <a:ext cx="5334000" cy="1600200"/>
          </a:xfrm>
          <a:prstGeom prst="roundRect">
            <a:avLst/>
          </a:prstGeom>
          <a:solidFill>
            <a:srgbClr val="0F172A"/>
          </a:solidFill>
          <a:ln w="2032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633658-22C3-B761-897B-5FB0FF40CA17}"/>
              </a:ext>
            </a:extLst>
          </p:cNvPr>
          <p:cNvSpPr txBox="1"/>
          <p:nvPr/>
        </p:nvSpPr>
        <p:spPr>
          <a:xfrm>
            <a:off x="6553200" y="39878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FFFFFF"/>
                </a:solidFill>
                <a:latin typeface="Pretendard" panose="02000503000000020004" pitchFamily="50" charset="-127"/>
              </a:rPr>
              <a:t>제안 시스템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6846EC-F722-D6FB-5E10-3A77654172A2}"/>
              </a:ext>
            </a:extLst>
          </p:cNvPr>
          <p:cNvSpPr txBox="1"/>
          <p:nvPr/>
        </p:nvSpPr>
        <p:spPr>
          <a:xfrm>
            <a:off x="6553200" y="4343400"/>
            <a:ext cx="4927600" cy="16619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주요 특징</a:t>
            </a:r>
            <a:r>
              <a:rPr lang="en-US" altLang="ko-KR" sz="1040">
                <a:solidFill>
                  <a:srgbClr val="DBEAFE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사용자가 모델 조합과 라운드 수를 정하고</a:t>
            </a:r>
            <a:r>
              <a:rPr lang="en-US" altLang="ko-KR" sz="104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토론과 판정 결과를 함께 보는 시스템
강점</a:t>
            </a:r>
            <a:r>
              <a:rPr lang="en-US" altLang="ko-KR" sz="1040">
                <a:solidFill>
                  <a:srgbClr val="DBEAFE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사용자 제어</a:t>
            </a:r>
            <a:r>
              <a:rPr lang="en-US" altLang="ko-KR" sz="104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토론 시각화</a:t>
            </a:r>
            <a:r>
              <a:rPr lang="en-US" altLang="ko-KR" sz="104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판정 모델</a:t>
            </a:r>
            <a:r>
              <a:rPr lang="en-US" altLang="ko-KR" sz="104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불확실성 표시를 결합
차이점</a:t>
            </a:r>
            <a:r>
              <a:rPr lang="en-US" altLang="ko-KR" sz="1040">
                <a:solidFill>
                  <a:srgbClr val="DBEAFE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1040">
                <a:solidFill>
                  <a:srgbClr val="DBEAFE"/>
                </a:solidFill>
                <a:latin typeface="Pretendard" panose="02000503000000020004" pitchFamily="50" charset="-127"/>
              </a:rPr>
              <a:t>다중 모델 협업을 일반 사용자가 직접 쓰는 검증형 인터페이스로 바꾼다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5014096-9255-F495-975B-C56C9DC741CE}"/>
              </a:ext>
            </a:extLst>
          </p:cNvPr>
          <p:cNvSpPr/>
          <p:nvPr/>
        </p:nvSpPr>
        <p:spPr>
          <a:xfrm>
            <a:off x="533400" y="5689600"/>
            <a:ext cx="11150600" cy="584200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9EA647-1578-177A-4305-AC93CD5BDB6B}"/>
              </a:ext>
            </a:extLst>
          </p:cNvPr>
          <p:cNvSpPr txBox="1"/>
          <p:nvPr/>
        </p:nvSpPr>
        <p:spPr>
          <a:xfrm>
            <a:off x="762000" y="5842000"/>
            <a:ext cx="10693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기존 시스템이 협업 프레임워크나 검색 중심 서비스에 강점이 있다면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150" b="1">
                <a:solidFill>
                  <a:srgbClr val="0F172A"/>
                </a:solidFill>
                <a:latin typeface="Pretendard" panose="02000503000000020004" pitchFamily="50" charset="-127"/>
              </a:rPr>
              <a:t>제안 시스템은 그것을 사용자가 직접 조절할 수 있는 환각 저감 인터페이스로 만든다는 점에서 차별화된다</a:t>
            </a:r>
            <a:r>
              <a:rPr lang="en-US" altLang="ko-KR" sz="1150" b="1">
                <a:solidFill>
                  <a:srgbClr val="0F172A"/>
                </a:solidFill>
                <a:latin typeface="Pretendard" panose="02000503000000020004" pitchFamily="50" charset="-127"/>
              </a:rPr>
              <a:t>.</a:t>
            </a:r>
            <a:endParaRPr lang="ko-KR" altLang="en-US" sz="1150" b="1">
              <a:solidFill>
                <a:srgbClr val="0F172A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254A9E-3F11-9E91-6665-6C49B8779EDB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유사 관련 시스템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F2C130-564E-4D1C-02D2-6E04FE371ECC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14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7805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FF0EC3DF-0A20-A557-049E-B69DFCC55BC1}"/>
              </a:ext>
            </a:extLst>
          </p:cNvPr>
          <p:cNvSpPr/>
          <p:nvPr/>
        </p:nvSpPr>
        <p:spPr>
          <a:xfrm>
            <a:off x="9017000" y="-508000"/>
            <a:ext cx="2921000" cy="29210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 cap="flat" cmpd="sng" algn="ctr">
            <a:solidFill>
              <a:srgbClr val="DBEA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648A4D8-2BC0-1FAB-2945-19A22E34A46E}"/>
              </a:ext>
            </a:extLst>
          </p:cNvPr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CCFBF1">
              <a:alpha val="45000"/>
            </a:srgbClr>
          </a:solidFill>
          <a:ln w="12700" cap="flat" cmpd="sng" algn="ctr">
            <a:solidFill>
              <a:srgbClr val="CCFBF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A431FC6-A5D4-8F9B-BA96-2FD2705BE256}"/>
              </a:ext>
            </a:extLst>
          </p:cNvPr>
          <p:cNvSpPr/>
          <p:nvPr/>
        </p:nvSpPr>
        <p:spPr>
          <a:xfrm>
            <a:off x="7937500" y="4635500"/>
            <a:ext cx="2032000" cy="2032000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 cap="flat" cmpd="sng" algn="ctr">
            <a:solidFill>
              <a:srgbClr val="EDE9F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6FCF11-28EB-26A9-EDF3-E5DB8F252490}"/>
              </a:ext>
            </a:extLst>
          </p:cNvPr>
          <p:cNvSpPr/>
          <p:nvPr/>
        </p:nvSpPr>
        <p:spPr>
          <a:xfrm>
            <a:off x="533400" y="279400"/>
            <a:ext cx="1524000" cy="304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 cap="flat" cmpd="sng" algn="ctr">
            <a:solidFill>
              <a:srgbClr val="E2E8F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C8A2C-90E6-C015-1025-3E25AEFF36FB}"/>
              </a:ext>
            </a:extLst>
          </p:cNvPr>
          <p:cNvSpPr txBox="1"/>
          <p:nvPr/>
        </p:nvSpPr>
        <p:spPr>
          <a:xfrm>
            <a:off x="685800" y="3302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결론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63454-B012-0AC6-C4EC-2C9C89BAFCA5}"/>
              </a:ext>
            </a:extLst>
          </p:cNvPr>
          <p:cNvSpPr txBox="1"/>
          <p:nvPr/>
        </p:nvSpPr>
        <p:spPr>
          <a:xfrm>
            <a:off x="10795000" y="30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900" b="1">
                <a:solidFill>
                  <a:srgbClr val="475569"/>
                </a:solidFill>
                <a:latin typeface="Pretendard" panose="02000503000000020004" pitchFamily="50" charset="-127"/>
              </a:rPr>
              <a:t>15 / 15</a:t>
            </a:r>
            <a:endParaRPr lang="ko-KR" altLang="en-US" sz="900" b="1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FC95E2C-C27A-3D2D-982D-961D0B8A3F6C}"/>
              </a:ext>
            </a:extLst>
          </p:cNvPr>
          <p:cNvCxnSpPr/>
          <p:nvPr/>
        </p:nvCxnSpPr>
        <p:spPr>
          <a:xfrm>
            <a:off x="533400" y="660400"/>
            <a:ext cx="889000" cy="0"/>
          </a:xfrm>
          <a:prstGeom prst="line">
            <a:avLst/>
          </a:prstGeom>
          <a:ln w="38100" cap="flat" cmpd="sng" algn="ctr">
            <a:solidFill>
              <a:srgbClr val="2563E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BB6082-64BD-D51C-F23E-4A4C7949E1D2}"/>
              </a:ext>
            </a:extLst>
          </p:cNvPr>
          <p:cNvSpPr txBox="1"/>
          <p:nvPr/>
        </p:nvSpPr>
        <p:spPr>
          <a:xfrm>
            <a:off x="533400" y="7874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결론</a:t>
            </a:r>
            <a:r>
              <a:rPr lang="en-US" altLang="ko-KR" sz="2600" b="1">
                <a:solidFill>
                  <a:srgbClr val="0F172A"/>
                </a:solidFill>
                <a:latin typeface="Pretendard" panose="02000503000000020004" pitchFamily="50" charset="-127"/>
              </a:rPr>
              <a:t>: </a:t>
            </a:r>
            <a:r>
              <a:rPr lang="ko-KR" altLang="en-US" sz="2600" b="1">
                <a:solidFill>
                  <a:srgbClr val="0F172A"/>
                </a:solidFill>
                <a:latin typeface="Pretendard" panose="02000503000000020004" pitchFamily="50" charset="-127"/>
              </a:rPr>
              <a:t>단일 응답보다 검증된 응답이 중요하다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2FB4CC8-110D-8C0A-2C19-14152943729A}"/>
              </a:ext>
            </a:extLst>
          </p:cNvPr>
          <p:cNvSpPr/>
          <p:nvPr/>
        </p:nvSpPr>
        <p:spPr>
          <a:xfrm>
            <a:off x="533400" y="1955800"/>
            <a:ext cx="5054600" cy="35560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E293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A0B9D-1613-39C1-6BD6-EE1A9D6E82F9}"/>
              </a:ext>
            </a:extLst>
          </p:cNvPr>
          <p:cNvSpPr txBox="1"/>
          <p:nvPr/>
        </p:nvSpPr>
        <p:spPr>
          <a:xfrm>
            <a:off x="736600" y="2159000"/>
            <a:ext cx="464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DBEAFE"/>
                </a:solidFill>
                <a:latin typeface="Pretendard" panose="02000503000000020004" pitchFamily="50" charset="-127"/>
              </a:rPr>
              <a:t>최종 정리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D2D002-1A75-19A0-A154-137148DF57AA}"/>
              </a:ext>
            </a:extLst>
          </p:cNvPr>
          <p:cNvSpPr txBox="1"/>
          <p:nvPr/>
        </p:nvSpPr>
        <p:spPr>
          <a:xfrm>
            <a:off x="736600" y="2413000"/>
            <a:ext cx="464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FFFFF"/>
                </a:solidFill>
                <a:latin typeface="Pretendard" panose="02000503000000020004" pitchFamily="50" charset="-127"/>
              </a:rPr>
              <a:t>이 발표의 핵심 결론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82C95-48AC-F352-2CE4-439AD14345BF}"/>
              </a:ext>
            </a:extLst>
          </p:cNvPr>
          <p:cNvSpPr txBox="1"/>
          <p:nvPr/>
        </p:nvSpPr>
        <p:spPr>
          <a:xfrm>
            <a:off x="736600" y="2971800"/>
            <a:ext cx="4648200" cy="258532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• AI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환각은 여전히 현실적인 문제다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.
•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최신 모델도 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hallucination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을 완전히 없애지 못했다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.
•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따라서 필요한 것은 답변을 더 길게 만드는 기술이 아니라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답변을 검토하는 구조와 불확실성을 표시하는 구조이다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.
•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제안 시스템은 모델 선택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라운드 설정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토론 시각화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판정 모델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, </a:t>
            </a:r>
            <a:r>
              <a:rPr lang="ko-KR" altLang="en-US" sz="1090">
                <a:solidFill>
                  <a:srgbClr val="DBEAFE"/>
                </a:solidFill>
                <a:latin typeface="Pretendard" panose="02000503000000020004" pitchFamily="50" charset="-127"/>
              </a:rPr>
              <a:t>판단 보류 기능으로 이를 해결하려 한다</a:t>
            </a:r>
            <a:r>
              <a:rPr lang="en-US" altLang="ko-KR" sz="1090">
                <a:solidFill>
                  <a:srgbClr val="DBEAFE"/>
                </a:solidFill>
                <a:latin typeface="Pretendard" panose="02000503000000020004" pitchFamily="50" charset="-127"/>
              </a:rPr>
              <a:t>.</a:t>
            </a:r>
            <a:endParaRPr lang="ko-KR" altLang="en-US" sz="1090">
              <a:solidFill>
                <a:srgbClr val="DBEAFE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29710A8-C2CF-EE45-304C-19A38F4B342E}"/>
              </a:ext>
            </a:extLst>
          </p:cNvPr>
          <p:cNvSpPr/>
          <p:nvPr/>
        </p:nvSpPr>
        <p:spPr>
          <a:xfrm>
            <a:off x="5943600" y="1955800"/>
            <a:ext cx="5740400" cy="3556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 cap="flat" cmpd="sng" algn="ctr">
            <a:solidFill>
              <a:srgbClr val="CBD5E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F3277-2D63-0633-EF10-EB26ABE778CB}"/>
              </a:ext>
            </a:extLst>
          </p:cNvPr>
          <p:cNvSpPr txBox="1"/>
          <p:nvPr/>
        </p:nvSpPr>
        <p:spPr>
          <a:xfrm>
            <a:off x="6146800" y="2159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참고 자료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7F933A-0FB7-C6EF-FECD-14534FF4A931}"/>
              </a:ext>
            </a:extLst>
          </p:cNvPr>
          <p:cNvSpPr txBox="1"/>
          <p:nvPr/>
        </p:nvSpPr>
        <p:spPr>
          <a:xfrm>
            <a:off x="6146800" y="2413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Pretendard" panose="02000503000000020004" pitchFamily="50" charset="-127"/>
              </a:rPr>
              <a:t>발표에 사용한 주요 자료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B11021-657F-4D0E-5C94-99C97D03B097}"/>
              </a:ext>
            </a:extLst>
          </p:cNvPr>
          <p:cNvSpPr txBox="1"/>
          <p:nvPr/>
        </p:nvSpPr>
        <p:spPr>
          <a:xfrm>
            <a:off x="6146800" y="2971800"/>
            <a:ext cx="5334000" cy="31393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70">
                <a:solidFill>
                  <a:srgbClr val="475569"/>
                </a:solidFill>
                <a:latin typeface="Pretendard" panose="02000503000000020004" pitchFamily="50" charset="-127"/>
              </a:rPr>
              <a:t>1. Vectara Hallucination Leaderboard, updated Mar 20, 2026.
2. Farquhar et al., Nature, Detecting hallucinations in large language models using semantic entropy, 2024.
3. Asgari et al., npj Digital Medicine, A framework to assess clinical safety and hallucination rates of LLMs for medical text summarisation, 2025.
</a:t>
            </a:r>
            <a:r>
              <a:rPr lang="ko-KR" altLang="en-US" sz="1070">
                <a:solidFill>
                  <a:srgbClr val="475569"/>
                </a:solidFill>
                <a:latin typeface="Pretendard" panose="02000503000000020004" pitchFamily="50" charset="-127"/>
              </a:rPr>
              <a:t>그래프와 설명은 위 자료의 공개 수치를 바탕으로 발표용으로 재구성했다</a:t>
            </a:r>
            <a:r>
              <a:rPr lang="en-US" altLang="ko-KR" sz="1070">
                <a:solidFill>
                  <a:srgbClr val="475569"/>
                </a:solidFill>
                <a:latin typeface="Pretendard" panose="02000503000000020004" pitchFamily="50" charset="-127"/>
              </a:rPr>
              <a:t>.</a:t>
            </a:r>
            <a:endParaRPr lang="ko-KR" altLang="en-US" sz="107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3D4989-6368-2322-1BEE-DB0FADE12276}"/>
              </a:ext>
            </a:extLst>
          </p:cNvPr>
          <p:cNvSpPr txBox="1"/>
          <p:nvPr/>
        </p:nvSpPr>
        <p:spPr>
          <a:xfrm>
            <a:off x="533400" y="641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b="1">
                <a:solidFill>
                  <a:srgbClr val="475569"/>
                </a:solidFill>
                <a:latin typeface="Pretendard" panose="02000503000000020004" pitchFamily="50" charset="-127"/>
              </a:rPr>
              <a:t>발표 마무리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6C603E-309D-78AE-9D25-D5D567324D26}"/>
              </a:ext>
            </a:extLst>
          </p:cNvPr>
          <p:cNvSpPr txBox="1"/>
          <p:nvPr/>
        </p:nvSpPr>
        <p:spPr>
          <a:xfrm>
            <a:off x="6985000" y="641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50">
                <a:solidFill>
                  <a:srgbClr val="475569"/>
                </a:solidFill>
                <a:latin typeface="Pretendard" panose="02000503000000020004" pitchFamily="50" charset="-127"/>
              </a:rPr>
              <a:t>15 / 15</a:t>
            </a:r>
            <a:endParaRPr lang="ko-KR" altLang="en-US" sz="850">
              <a:solidFill>
                <a:srgbClr val="475569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011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Office PowerPoint</Application>
  <PresentationFormat>사용자 지정</PresentationFormat>
  <Paragraphs>273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진우 조</dc:creator>
  <cp:lastModifiedBy>진우 조</cp:lastModifiedBy>
  <cp:revision>1</cp:revision>
  <dcterms:created xsi:type="dcterms:W3CDTF">2026-04-12T18:01:52Z</dcterms:created>
  <dcterms:modified xsi:type="dcterms:W3CDTF">2026-04-12T18:01:53Z</dcterms:modified>
</cp:coreProperties>
</file>